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21"/>
  </p:notesMasterIdLst>
  <p:handoutMasterIdLst>
    <p:handoutMasterId r:id="rId22"/>
  </p:handoutMasterIdLst>
  <p:sldIdLst>
    <p:sldId id="256" r:id="rId5"/>
    <p:sldId id="257" r:id="rId6"/>
    <p:sldId id="258" r:id="rId7"/>
    <p:sldId id="259" r:id="rId8"/>
    <p:sldId id="260" r:id="rId9"/>
    <p:sldId id="263" r:id="rId10"/>
    <p:sldId id="264" r:id="rId11"/>
    <p:sldId id="265" r:id="rId12"/>
    <p:sldId id="266" r:id="rId13"/>
    <p:sldId id="267" r:id="rId14"/>
    <p:sldId id="268" r:id="rId15"/>
    <p:sldId id="269" r:id="rId16"/>
    <p:sldId id="272" r:id="rId17"/>
    <p:sldId id="273" r:id="rId18"/>
    <p:sldId id="274" r:id="rId19"/>
    <p:sldId id="275"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9" autoAdjust="0"/>
    <p:restoredTop sz="95033" autoAdjust="0"/>
  </p:normalViewPr>
  <p:slideViewPr>
    <p:cSldViewPr snapToGrid="0">
      <p:cViewPr>
        <p:scale>
          <a:sx n="103" d="100"/>
          <a:sy n="103" d="100"/>
        </p:scale>
        <p:origin x="92" y="35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handoutMaster" Target="handoutMasters/handoutMaster1.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9/20/2026</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9/20/2026</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9/20/2026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9/20/2026</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9/20/2026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9/20/2026</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690" r:id="rId20"/>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hyperlink" Target="https://github.com/rd7roshan07/Airbnb-Hotel-Booking-Analysis.git"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5128054" y="3194162"/>
            <a:ext cx="4534929" cy="2557848"/>
          </a:xfrm>
        </p:spPr>
        <p:txBody>
          <a:bodyPr>
            <a:normAutofit/>
          </a:bodyPr>
          <a:lstStyle/>
          <a:p>
            <a:pPr algn="r"/>
            <a:r>
              <a:rPr lang="en-US" b="0" dirty="0">
                <a:solidFill>
                  <a:schemeClr val="tx1"/>
                </a:solidFill>
              </a:rPr>
              <a:t>[Student Name: Roshan kumar ]</a:t>
            </a:r>
          </a:p>
          <a:p>
            <a:pPr algn="r"/>
            <a:r>
              <a:rPr lang="en-US" b="0" dirty="0" err="1">
                <a:solidFill>
                  <a:schemeClr val="tx1"/>
                </a:solidFill>
              </a:rPr>
              <a:t>Rajkiya</a:t>
            </a:r>
            <a:r>
              <a:rPr lang="en-US" b="0" dirty="0">
                <a:solidFill>
                  <a:schemeClr val="tx1"/>
                </a:solidFill>
              </a:rPr>
              <a:t> </a:t>
            </a:r>
            <a:r>
              <a:rPr lang="en-US" b="0" dirty="0" err="1">
                <a:solidFill>
                  <a:schemeClr val="tx1"/>
                </a:solidFill>
              </a:rPr>
              <a:t>Enginnering</a:t>
            </a:r>
            <a:r>
              <a:rPr lang="en-US" b="0" dirty="0">
                <a:solidFill>
                  <a:schemeClr val="tx1"/>
                </a:solidFill>
              </a:rPr>
              <a:t> College</a:t>
            </a:r>
          </a:p>
          <a:p>
            <a:pPr algn="r"/>
            <a:r>
              <a:rPr lang="en-US" b="0" dirty="0" err="1">
                <a:solidFill>
                  <a:schemeClr val="tx1"/>
                </a:solidFill>
              </a:rPr>
              <a:t>Sonbhadra</a:t>
            </a:r>
            <a:endParaRPr lang="en-US" b="0" dirty="0">
              <a:solidFill>
                <a:schemeClr val="tx1"/>
              </a:solidFill>
            </a:endParaRPr>
          </a:p>
          <a:p>
            <a:pPr algn="r"/>
            <a:r>
              <a:rPr lang="en-US" dirty="0">
                <a:solidFill>
                  <a:schemeClr val="tx1"/>
                </a:solidFill>
              </a:rPr>
              <a:t>STU66ab93f22047e1722520562</a:t>
            </a:r>
          </a:p>
          <a:p>
            <a:pPr algn="r"/>
            <a:endParaRPr lang="en-US"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5701212" y="1976413"/>
            <a:ext cx="4998720" cy="1335198"/>
          </a:xfrm>
        </p:spPr>
        <p:txBody>
          <a:bodyPr>
            <a:normAutofit/>
          </a:bodyPr>
          <a:lstStyle/>
          <a:p>
            <a:r>
              <a:rPr lang="en-GB" sz="3200" dirty="0"/>
              <a:t>Project Title -</a:t>
            </a:r>
            <a:r>
              <a:rPr lang="en-IN" sz="3200" dirty="0"/>
              <a:t>Airbnb Hotel Booking Analysis</a:t>
            </a:r>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2">
                                            <p:txEl>
                                              <p:pRg st="1" end="1"/>
                                            </p:txEl>
                                          </p:spTgt>
                                        </p:tgtEl>
                                        <p:attrNameLst>
                                          <p:attrName>style.visibility</p:attrName>
                                        </p:attrNameLst>
                                      </p:cBhvr>
                                      <p:to>
                                        <p:strVal val="visible"/>
                                      </p:to>
                                    </p:set>
                                    <p:animEffect transition="in" filter="randombar(horizontal)">
                                      <p:cBhvr>
                                        <p:cTn id="37" dur="500"/>
                                        <p:tgtEl>
                                          <p:spTgt spid="2">
                                            <p:txEl>
                                              <p:pRg st="1" end="1"/>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4" presetClass="entr" presetSubtype="10" fill="hold" grpId="0" nodeType="clickEffect">
                                  <p:stCondLst>
                                    <p:cond delay="0"/>
                                  </p:stCondLst>
                                  <p:childTnLst>
                                    <p:set>
                                      <p:cBhvr>
                                        <p:cTn id="4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42" dur="500"/>
                                        <p:tgtEl>
                                          <p:spTgt spid="2">
                                            <p:txEl>
                                              <p:pRg st="2" end="2"/>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4" presetClass="entr" presetSubtype="10" fill="hold" grpId="0" nodeType="clickEffect">
                                  <p:stCondLst>
                                    <p:cond delay="0"/>
                                  </p:stCondLst>
                                  <p:childTnLst>
                                    <p:set>
                                      <p:cBhvr>
                                        <p:cTn id="46" dur="1" fill="hold">
                                          <p:stCondLst>
                                            <p:cond delay="0"/>
                                          </p:stCondLst>
                                        </p:cTn>
                                        <p:tgtEl>
                                          <p:spTgt spid="2">
                                            <p:txEl>
                                              <p:pRg st="3" end="3"/>
                                            </p:txEl>
                                          </p:spTgt>
                                        </p:tgtEl>
                                        <p:attrNameLst>
                                          <p:attrName>style.visibility</p:attrName>
                                        </p:attrNameLst>
                                      </p:cBhvr>
                                      <p:to>
                                        <p:strVal val="visible"/>
                                      </p:to>
                                    </p:set>
                                    <p:animEffect transition="in" filter="randombar(horizontal)">
                                      <p:cBhvr>
                                        <p:cTn id="47"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85000" lnSpcReduction="20000"/>
          </a:bodyPr>
          <a:lstStyle/>
          <a:p>
            <a:pPr lvl="0"/>
            <a:r>
              <a:rPr lang="en-IN" sz="2800" dirty="0" err="1"/>
              <a:t>Analyze</a:t>
            </a:r>
            <a:r>
              <a:rPr lang="en-IN" sz="2800" dirty="0"/>
              <a:t> Airbnb listing and booking-related data. </a:t>
            </a:r>
          </a:p>
          <a:p>
            <a:pPr lvl="0"/>
            <a:r>
              <a:rPr lang="en-IN" sz="2800" dirty="0"/>
              <a:t>Understand </a:t>
            </a:r>
            <a:r>
              <a:rPr lang="en-IN" sz="2800" b="1" dirty="0"/>
              <a:t>price variation</a:t>
            </a:r>
            <a:r>
              <a:rPr lang="en-IN" sz="2800" dirty="0"/>
              <a:t> across listings. </a:t>
            </a:r>
          </a:p>
          <a:p>
            <a:pPr lvl="0"/>
            <a:r>
              <a:rPr lang="en-IN" sz="2800" dirty="0" err="1"/>
              <a:t>Analyze</a:t>
            </a:r>
            <a:r>
              <a:rPr lang="en-IN" sz="2800" dirty="0"/>
              <a:t> </a:t>
            </a:r>
            <a:r>
              <a:rPr lang="en-IN" sz="2800" b="1" dirty="0"/>
              <a:t>room types and neighbourhoods</a:t>
            </a:r>
            <a:r>
              <a:rPr lang="en-IN" sz="2800" dirty="0"/>
              <a:t>. </a:t>
            </a:r>
          </a:p>
          <a:p>
            <a:pPr lvl="0"/>
            <a:r>
              <a:rPr lang="en-IN" sz="2800" dirty="0"/>
              <a:t>Study </a:t>
            </a:r>
            <a:r>
              <a:rPr lang="en-IN" sz="2800" b="1" dirty="0"/>
              <a:t>reviews and availability</a:t>
            </a:r>
            <a:r>
              <a:rPr lang="en-IN" sz="2800" dirty="0"/>
              <a:t>. </a:t>
            </a:r>
          </a:p>
          <a:p>
            <a:pPr lvl="0"/>
            <a:r>
              <a:rPr lang="en-IN" sz="2800" dirty="0"/>
              <a:t>Clean and preprocess the dataset. </a:t>
            </a:r>
          </a:p>
          <a:p>
            <a:pPr lvl="0"/>
            <a:r>
              <a:rPr lang="en-IN" sz="2800" dirty="0"/>
              <a:t>Perform </a:t>
            </a:r>
            <a:r>
              <a:rPr lang="en-IN" sz="2800" b="1" dirty="0"/>
              <a:t>Exploratory Data Analysis (EDA)</a:t>
            </a:r>
            <a:r>
              <a:rPr lang="en-IN" sz="2800" dirty="0"/>
              <a:t>. </a:t>
            </a:r>
          </a:p>
          <a:p>
            <a:pPr lvl="0"/>
            <a:r>
              <a:rPr lang="en-IN" sz="2800" dirty="0"/>
              <a:t>Generate meaningful, data-driven insights.</a:t>
            </a:r>
          </a:p>
          <a:p>
            <a:pPr>
              <a:lnSpc>
                <a:spcPct val="150000"/>
              </a:lnSpc>
            </a:pP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2">
                                            <p:txEl>
                                              <p:pRg st="4" end="4"/>
                                            </p:txEl>
                                          </p:spTgt>
                                        </p:tgtEl>
                                        <p:attrNameLst>
                                          <p:attrName>style.visibility</p:attrName>
                                        </p:attrNameLst>
                                      </p:cBhvr>
                                      <p:to>
                                        <p:strVal val="visible"/>
                                      </p:to>
                                    </p:set>
                                    <p:animEffect transition="in" filter="fade">
                                      <p:cBhvr>
                                        <p:cTn id="42" dur="1000"/>
                                        <p:tgtEl>
                                          <p:spTgt spid="2">
                                            <p:txEl>
                                              <p:pRg st="4" end="4"/>
                                            </p:txEl>
                                          </p:spTgt>
                                        </p:tgtEl>
                                      </p:cBhvr>
                                    </p:animEffect>
                                    <p:anim calcmode="lin" valueType="num">
                                      <p:cBhvr>
                                        <p:cTn id="43" dur="1000" fill="hold"/>
                                        <p:tgtEl>
                                          <p:spTgt spid="2">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2">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2">
                                            <p:txEl>
                                              <p:pRg st="5" end="5"/>
                                            </p:txEl>
                                          </p:spTgt>
                                        </p:tgtEl>
                                        <p:attrNameLst>
                                          <p:attrName>style.visibility</p:attrName>
                                        </p:attrNameLst>
                                      </p:cBhvr>
                                      <p:to>
                                        <p:strVal val="visible"/>
                                      </p:to>
                                    </p:set>
                                    <p:animEffect transition="in" filter="fade">
                                      <p:cBhvr>
                                        <p:cTn id="49" dur="1000"/>
                                        <p:tgtEl>
                                          <p:spTgt spid="2">
                                            <p:txEl>
                                              <p:pRg st="5" end="5"/>
                                            </p:txEl>
                                          </p:spTgt>
                                        </p:tgtEl>
                                      </p:cBhvr>
                                    </p:animEffect>
                                    <p:anim calcmode="lin" valueType="num">
                                      <p:cBhvr>
                                        <p:cTn id="50" dur="1000" fill="hold"/>
                                        <p:tgtEl>
                                          <p:spTgt spid="2">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2">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2">
                                            <p:txEl>
                                              <p:pRg st="6" end="6"/>
                                            </p:txEl>
                                          </p:spTgt>
                                        </p:tgtEl>
                                        <p:attrNameLst>
                                          <p:attrName>style.visibility</p:attrName>
                                        </p:attrNameLst>
                                      </p:cBhvr>
                                      <p:to>
                                        <p:strVal val="visible"/>
                                      </p:to>
                                    </p:set>
                                    <p:animEffect transition="in" filter="fade">
                                      <p:cBhvr>
                                        <p:cTn id="56" dur="1000"/>
                                        <p:tgtEl>
                                          <p:spTgt spid="2">
                                            <p:txEl>
                                              <p:pRg st="6" end="6"/>
                                            </p:txEl>
                                          </p:spTgt>
                                        </p:tgtEl>
                                      </p:cBhvr>
                                    </p:animEffect>
                                    <p:anim calcmode="lin" valueType="num">
                                      <p:cBhvr>
                                        <p:cTn id="57" dur="1000" fill="hold"/>
                                        <p:tgtEl>
                                          <p:spTgt spid="2">
                                            <p:txEl>
                                              <p:pRg st="6" end="6"/>
                                            </p:txEl>
                                          </p:spTgt>
                                        </p:tgtEl>
                                        <p:attrNameLst>
                                          <p:attrName>ppt_x</p:attrName>
                                        </p:attrNameLst>
                                      </p:cBhvr>
                                      <p:tavLst>
                                        <p:tav tm="0">
                                          <p:val>
                                            <p:strVal val="#ppt_x"/>
                                          </p:val>
                                        </p:tav>
                                        <p:tav tm="100000">
                                          <p:val>
                                            <p:strVal val="#ppt_x"/>
                                          </p:val>
                                        </p:tav>
                                      </p:tavLst>
                                    </p:anim>
                                    <p:anim calcmode="lin" valueType="num">
                                      <p:cBhvr>
                                        <p:cTn id="58" dur="1000" fill="hold"/>
                                        <p:tgtEl>
                                          <p:spTgt spid="2">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586259" y="601326"/>
            <a:ext cx="6276109" cy="830997"/>
          </a:xfrm>
        </p:spPr>
        <p:txBody>
          <a:bodyPr>
            <a:normAutofit fontScale="90000"/>
          </a:bodyPr>
          <a:lstStyle/>
          <a:p>
            <a:r>
              <a:rPr lang="en-GB" dirty="0"/>
              <a:t>Project Description</a:t>
            </a:r>
            <a:br>
              <a:rPr lang="en-GB" dirty="0"/>
            </a:br>
            <a:br>
              <a:rPr lang="en-GB" sz="1300" dirty="0"/>
            </a:br>
            <a:br>
              <a:rPr lang="en-GB" sz="1300" dirty="0"/>
            </a:br>
            <a:br>
              <a:rPr lang="en-GB" sz="1300" dirty="0"/>
            </a:br>
            <a:br>
              <a:rPr lang="en-GB" sz="1300" dirty="0"/>
            </a:br>
            <a:r>
              <a:rPr lang="en-IN" sz="1800" dirty="0"/>
              <a:t>The Airbnb Hotel Booking Analysis project focuses on </a:t>
            </a:r>
            <a:r>
              <a:rPr lang="en-IN" sz="1800" dirty="0" err="1"/>
              <a:t>analyzing</a:t>
            </a:r>
            <a:r>
              <a:rPr lang="en-IN" sz="1800" dirty="0"/>
              <a:t> Airbnb listing data to understand different patterns related to room types, neighbourhoods, pricing, reviews, and availability. The project involves collecting and examining the dataset, performing data cleaning and preprocessing, handling missing and duplicate records, and conducting Exploratory Data Analysis (EDA). Various statistical analyses and visualizations are used to compare listings and identify meaningful patterns in the data. The final results provide useful insights into the Airbnb marketplace and can help hosts, property managers, </a:t>
            </a:r>
            <a:r>
              <a:rPr lang="en-IN" sz="1800" dirty="0" err="1"/>
              <a:t>travelers</a:t>
            </a:r>
            <a:r>
              <a:rPr lang="en-IN" sz="1800" dirty="0"/>
              <a:t>, and analysts better understand listing and pricing patterns.</a:t>
            </a:r>
            <a:br>
              <a:rPr lang="en-GB" sz="1800" dirty="0"/>
            </a:br>
            <a:endParaRPr lang="en-IN" sz="1800"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64E3B60-2780-459A-8583-F095D5E7463A}"/>
              </a:ext>
            </a:extLst>
          </p:cNvPr>
          <p:cNvSpPr>
            <a:spLocks noGrp="1"/>
          </p:cNvSpPr>
          <p:nvPr>
            <p:ph type="body" sz="quarter" idx="12"/>
          </p:nvPr>
        </p:nvSpPr>
        <p:spPr>
          <a:xfrm>
            <a:off x="721359" y="1991360"/>
            <a:ext cx="7904481" cy="3990023"/>
          </a:xfrm>
        </p:spPr>
        <p:txBody>
          <a:bodyPr>
            <a:normAutofit fontScale="70000" lnSpcReduction="20000"/>
          </a:bodyPr>
          <a:lstStyle/>
          <a:p>
            <a:pPr>
              <a:spcAft>
                <a:spcPts val="1200"/>
              </a:spcAft>
              <a:defRPr sz="1800">
                <a:solidFill>
                  <a:srgbClr val="232830"/>
                </a:solidFill>
              </a:defRPr>
            </a:pPr>
            <a:r>
              <a:rPr lang="en-US" sz="3600" dirty="0"/>
              <a:t>Airbnb hosts — understand local pricing and accommodation-category patterns.</a:t>
            </a:r>
          </a:p>
          <a:p>
            <a:pPr>
              <a:spcAft>
                <a:spcPts val="1200"/>
              </a:spcAft>
              <a:defRPr sz="1800">
                <a:solidFill>
                  <a:srgbClr val="232830"/>
                </a:solidFill>
              </a:defRPr>
            </a:pPr>
            <a:r>
              <a:rPr lang="en-US" sz="3600" dirty="0"/>
              <a:t>Property managers — compare </a:t>
            </a:r>
            <a:r>
              <a:rPr lang="en-US" sz="3600" dirty="0" err="1"/>
              <a:t>neighbourhood</a:t>
            </a:r>
            <a:r>
              <a:rPr lang="en-US" sz="3600" dirty="0"/>
              <a:t> supply and typical prices.</a:t>
            </a:r>
          </a:p>
          <a:p>
            <a:pPr>
              <a:spcAft>
                <a:spcPts val="1200"/>
              </a:spcAft>
              <a:defRPr sz="1800">
                <a:solidFill>
                  <a:srgbClr val="232830"/>
                </a:solidFill>
              </a:defRPr>
            </a:pPr>
            <a:r>
              <a:rPr lang="en-US" sz="3600" dirty="0"/>
              <a:t>Travelers / guests — understand accommodation categories and price variation.</a:t>
            </a:r>
          </a:p>
          <a:p>
            <a:pPr>
              <a:spcAft>
                <a:spcPts val="1200"/>
              </a:spcAft>
              <a:defRPr sz="1800">
                <a:solidFill>
                  <a:srgbClr val="232830"/>
                </a:solidFill>
              </a:defRPr>
            </a:pPr>
            <a:r>
              <a:rPr lang="en-US" sz="3600" dirty="0"/>
              <a:t>Business and data analysts — evaluate marketplace structure and listing-level patterns</a:t>
            </a:r>
            <a:endParaRPr lang="en-IN" sz="3600" dirty="0"/>
          </a:p>
        </p:txBody>
      </p:sp>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620008" y="876617"/>
            <a:ext cx="10046070" cy="802641"/>
          </a:xfrm>
        </p:spPr>
        <p:txBody>
          <a:bodyPr>
            <a:normAutofit/>
          </a:bodyPr>
          <a:lstStyle/>
          <a:p>
            <a:r>
              <a:rPr lang="en-US" sz="3200" dirty="0"/>
              <a:t>WHO ARE THE END USERS?</a:t>
            </a:r>
            <a:endParaRPr lang="en-IN" sz="20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
                                            <p:txEl>
                                              <p:pRg st="2" end="2"/>
                                            </p:txEl>
                                          </p:spTgt>
                                        </p:tgtEl>
                                        <p:attrNameLst>
                                          <p:attrName>style.visibility</p:attrName>
                                        </p:attrNameLst>
                                      </p:cBhvr>
                                      <p:to>
                                        <p:strVal val="visible"/>
                                      </p:to>
                                    </p:set>
                                    <p:animEffect transition="in" filter="fade">
                                      <p:cBhvr>
                                        <p:cTn id="28" dur="1000"/>
                                        <p:tgtEl>
                                          <p:spTgt spid="2">
                                            <p:txEl>
                                              <p:pRg st="2" end="2"/>
                                            </p:txEl>
                                          </p:spTgt>
                                        </p:tgtEl>
                                      </p:cBhvr>
                                    </p:animEffect>
                                    <p:anim calcmode="lin" valueType="num">
                                      <p:cBhvr>
                                        <p:cTn id="29" dur="1000" fill="hold"/>
                                        <p:tgtEl>
                                          <p:spTgt spid="2">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2">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
                                            <p:txEl>
                                              <p:pRg st="3" end="3"/>
                                            </p:txEl>
                                          </p:spTgt>
                                        </p:tgtEl>
                                        <p:attrNameLst>
                                          <p:attrName>style.visibility</p:attrName>
                                        </p:attrNameLst>
                                      </p:cBhvr>
                                      <p:to>
                                        <p:strVal val="visible"/>
                                      </p:to>
                                    </p:set>
                                    <p:animEffect transition="in" filter="fade">
                                      <p:cBhvr>
                                        <p:cTn id="35" dur="1000"/>
                                        <p:tgtEl>
                                          <p:spTgt spid="2">
                                            <p:txEl>
                                              <p:pRg st="3" end="3"/>
                                            </p:txEl>
                                          </p:spTgt>
                                        </p:tgtEl>
                                      </p:cBhvr>
                                    </p:animEffect>
                                    <p:anim calcmode="lin" valueType="num">
                                      <p:cBhvr>
                                        <p:cTn id="36" dur="1000" fill="hold"/>
                                        <p:tgtEl>
                                          <p:spTgt spid="2">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2">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7" name="Text Placeholder 6">
            <a:extLst>
              <a:ext uri="{FF2B5EF4-FFF2-40B4-BE49-F238E27FC236}">
                <a16:creationId xmlns:a16="http://schemas.microsoft.com/office/drawing/2014/main" id="{B21C28F5-3CA3-4B78-B5C9-550C00BB3174}"/>
              </a:ext>
            </a:extLst>
          </p:cNvPr>
          <p:cNvSpPr>
            <a:spLocks noGrp="1"/>
          </p:cNvSpPr>
          <p:nvPr>
            <p:ph type="body" sz="quarter" idx="12"/>
          </p:nvPr>
        </p:nvSpPr>
        <p:spPr>
          <a:xfrm>
            <a:off x="1452839" y="1463105"/>
            <a:ext cx="9027702" cy="5243448"/>
          </a:xfrm>
        </p:spPr>
        <p:txBody>
          <a:bodyPr/>
          <a:lstStyle/>
          <a:p>
            <a:pPr>
              <a:spcAft>
                <a:spcPts val="1200"/>
              </a:spcAft>
              <a:defRPr sz="1800">
                <a:solidFill>
                  <a:srgbClr val="232830"/>
                </a:solidFill>
              </a:defRPr>
            </a:pPr>
            <a:r>
              <a:rPr lang="en-IN" dirty="0"/>
              <a:t>• Python — analytical programming</a:t>
            </a:r>
          </a:p>
          <a:p>
            <a:pPr>
              <a:spcAft>
                <a:spcPts val="1200"/>
              </a:spcAft>
              <a:defRPr sz="1800">
                <a:solidFill>
                  <a:srgbClr val="232830"/>
                </a:solidFill>
              </a:defRPr>
            </a:pPr>
            <a:r>
              <a:rPr lang="en-IN" dirty="0"/>
              <a:t>• Jupyter Notebook — reproducible analysis workflow</a:t>
            </a:r>
          </a:p>
          <a:p>
            <a:pPr>
              <a:spcAft>
                <a:spcPts val="1200"/>
              </a:spcAft>
              <a:defRPr sz="1800">
                <a:solidFill>
                  <a:srgbClr val="232830"/>
                </a:solidFill>
              </a:defRPr>
            </a:pPr>
            <a:r>
              <a:rPr lang="en-IN" dirty="0"/>
              <a:t>• Pandas — data loading, cleaning, grouping, and statistics</a:t>
            </a:r>
          </a:p>
          <a:p>
            <a:pPr>
              <a:spcAft>
                <a:spcPts val="1200"/>
              </a:spcAft>
              <a:defRPr sz="1800">
                <a:solidFill>
                  <a:srgbClr val="232830"/>
                </a:solidFill>
              </a:defRPr>
            </a:pPr>
            <a:r>
              <a:rPr lang="en-IN" dirty="0"/>
              <a:t>• Matplotlib / Seaborn — visual exploration where used by the notebook</a:t>
            </a:r>
          </a:p>
          <a:p>
            <a:pPr>
              <a:spcAft>
                <a:spcPts val="1200"/>
              </a:spcAft>
              <a:defRPr sz="1800">
                <a:solidFill>
                  <a:srgbClr val="232830"/>
                </a:solidFill>
              </a:defRPr>
            </a:pPr>
            <a:r>
              <a:rPr lang="en-IN" dirty="0"/>
              <a:t>• Microsoft Excel — source dataset</a:t>
            </a:r>
          </a:p>
          <a:p>
            <a:pPr>
              <a:spcAft>
                <a:spcPts val="1200"/>
              </a:spcAft>
              <a:defRPr sz="1800">
                <a:solidFill>
                  <a:srgbClr val="232830"/>
                </a:solidFill>
              </a:defRPr>
            </a:pPr>
            <a:r>
              <a:rPr lang="en-IN" dirty="0"/>
              <a:t>• Microsoft PowerPoint — final project presentation</a:t>
            </a:r>
          </a:p>
          <a:p>
            <a:pPr lvl="1">
              <a:lnSpc>
                <a:spcPct val="150000"/>
              </a:lnSpc>
            </a:pPr>
            <a:endParaRPr lang="en-IN" dirty="0"/>
          </a:p>
        </p:txBody>
      </p:sp>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430567"/>
            <a:ext cx="5306291" cy="847817"/>
          </a:xfrm>
        </p:spPr>
        <p:txBody>
          <a:bodyPr>
            <a:normAutofit/>
          </a:bodyPr>
          <a:lstStyle/>
          <a:p>
            <a:r>
              <a:rPr lang="en-US" dirty="0"/>
              <a:t>Technology Used</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xEl>
                                              <p:pRg st="0" end="0"/>
                                            </p:txEl>
                                          </p:spTgt>
                                        </p:tgtEl>
                                        <p:attrNameLst>
                                          <p:attrName>style.visibility</p:attrName>
                                        </p:attrNameLst>
                                      </p:cBhvr>
                                      <p:to>
                                        <p:strVal val="visible"/>
                                      </p:to>
                                    </p:set>
                                    <p:animEffect transition="in" filter="fade">
                                      <p:cBhvr>
                                        <p:cTn id="14" dur="1000"/>
                                        <p:tgtEl>
                                          <p:spTgt spid="7">
                                            <p:txEl>
                                              <p:pRg st="0" end="0"/>
                                            </p:txEl>
                                          </p:spTgt>
                                        </p:tgtEl>
                                      </p:cBhvr>
                                    </p:animEffect>
                                    <p:anim calcmode="lin" valueType="num">
                                      <p:cBhvr>
                                        <p:cTn id="15" dur="1000" fill="hold"/>
                                        <p:tgtEl>
                                          <p:spTgt spid="7">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7">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7">
                                            <p:txEl>
                                              <p:pRg st="1" end="1"/>
                                            </p:txEl>
                                          </p:spTgt>
                                        </p:tgtEl>
                                        <p:attrNameLst>
                                          <p:attrName>style.visibility</p:attrName>
                                        </p:attrNameLst>
                                      </p:cBhvr>
                                      <p:to>
                                        <p:strVal val="visible"/>
                                      </p:to>
                                    </p:set>
                                    <p:animEffect transition="in" filter="fade">
                                      <p:cBhvr>
                                        <p:cTn id="21" dur="1000"/>
                                        <p:tgtEl>
                                          <p:spTgt spid="7">
                                            <p:txEl>
                                              <p:pRg st="1" end="1"/>
                                            </p:txEl>
                                          </p:spTgt>
                                        </p:tgtEl>
                                      </p:cBhvr>
                                    </p:animEffect>
                                    <p:anim calcmode="lin" valueType="num">
                                      <p:cBhvr>
                                        <p:cTn id="22" dur="1000" fill="hold"/>
                                        <p:tgtEl>
                                          <p:spTgt spid="7">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7">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7">
                                            <p:txEl>
                                              <p:pRg st="2" end="2"/>
                                            </p:txEl>
                                          </p:spTgt>
                                        </p:tgtEl>
                                        <p:attrNameLst>
                                          <p:attrName>style.visibility</p:attrName>
                                        </p:attrNameLst>
                                      </p:cBhvr>
                                      <p:to>
                                        <p:strVal val="visible"/>
                                      </p:to>
                                    </p:set>
                                    <p:animEffect transition="in" filter="fade">
                                      <p:cBhvr>
                                        <p:cTn id="28" dur="1000"/>
                                        <p:tgtEl>
                                          <p:spTgt spid="7">
                                            <p:txEl>
                                              <p:pRg st="2" end="2"/>
                                            </p:txEl>
                                          </p:spTgt>
                                        </p:tgtEl>
                                      </p:cBhvr>
                                    </p:animEffect>
                                    <p:anim calcmode="lin" valueType="num">
                                      <p:cBhvr>
                                        <p:cTn id="29" dur="1000" fill="hold"/>
                                        <p:tgtEl>
                                          <p:spTgt spid="7">
                                            <p:txEl>
                                              <p:pRg st="2" end="2"/>
                                            </p:txEl>
                                          </p:spTgt>
                                        </p:tgtEl>
                                        <p:attrNameLst>
                                          <p:attrName>ppt_x</p:attrName>
                                        </p:attrNameLst>
                                      </p:cBhvr>
                                      <p:tavLst>
                                        <p:tav tm="0">
                                          <p:val>
                                            <p:strVal val="#ppt_x"/>
                                          </p:val>
                                        </p:tav>
                                        <p:tav tm="100000">
                                          <p:val>
                                            <p:strVal val="#ppt_x"/>
                                          </p:val>
                                        </p:tav>
                                      </p:tavLst>
                                    </p:anim>
                                    <p:anim calcmode="lin" valueType="num">
                                      <p:cBhvr>
                                        <p:cTn id="30" dur="1000" fill="hold"/>
                                        <p:tgtEl>
                                          <p:spTgt spid="7">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7">
                                            <p:txEl>
                                              <p:pRg st="3" end="3"/>
                                            </p:txEl>
                                          </p:spTgt>
                                        </p:tgtEl>
                                        <p:attrNameLst>
                                          <p:attrName>style.visibility</p:attrName>
                                        </p:attrNameLst>
                                      </p:cBhvr>
                                      <p:to>
                                        <p:strVal val="visible"/>
                                      </p:to>
                                    </p:set>
                                    <p:animEffect transition="in" filter="fade">
                                      <p:cBhvr>
                                        <p:cTn id="35" dur="1000"/>
                                        <p:tgtEl>
                                          <p:spTgt spid="7">
                                            <p:txEl>
                                              <p:pRg st="3" end="3"/>
                                            </p:txEl>
                                          </p:spTgt>
                                        </p:tgtEl>
                                      </p:cBhvr>
                                    </p:animEffect>
                                    <p:anim calcmode="lin" valueType="num">
                                      <p:cBhvr>
                                        <p:cTn id="36" dur="1000" fill="hold"/>
                                        <p:tgtEl>
                                          <p:spTgt spid="7">
                                            <p:txEl>
                                              <p:pRg st="3" end="3"/>
                                            </p:txEl>
                                          </p:spTgt>
                                        </p:tgtEl>
                                        <p:attrNameLst>
                                          <p:attrName>ppt_x</p:attrName>
                                        </p:attrNameLst>
                                      </p:cBhvr>
                                      <p:tavLst>
                                        <p:tav tm="0">
                                          <p:val>
                                            <p:strVal val="#ppt_x"/>
                                          </p:val>
                                        </p:tav>
                                        <p:tav tm="100000">
                                          <p:val>
                                            <p:strVal val="#ppt_x"/>
                                          </p:val>
                                        </p:tav>
                                      </p:tavLst>
                                    </p:anim>
                                    <p:anim calcmode="lin" valueType="num">
                                      <p:cBhvr>
                                        <p:cTn id="37" dur="1000" fill="hold"/>
                                        <p:tgtEl>
                                          <p:spTgt spid="7">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7">
                                            <p:txEl>
                                              <p:pRg st="4" end="4"/>
                                            </p:txEl>
                                          </p:spTgt>
                                        </p:tgtEl>
                                        <p:attrNameLst>
                                          <p:attrName>style.visibility</p:attrName>
                                        </p:attrNameLst>
                                      </p:cBhvr>
                                      <p:to>
                                        <p:strVal val="visible"/>
                                      </p:to>
                                    </p:set>
                                    <p:animEffect transition="in" filter="fade">
                                      <p:cBhvr>
                                        <p:cTn id="42" dur="1000"/>
                                        <p:tgtEl>
                                          <p:spTgt spid="7">
                                            <p:txEl>
                                              <p:pRg st="4" end="4"/>
                                            </p:txEl>
                                          </p:spTgt>
                                        </p:tgtEl>
                                      </p:cBhvr>
                                    </p:animEffect>
                                    <p:anim calcmode="lin" valueType="num">
                                      <p:cBhvr>
                                        <p:cTn id="43" dur="1000" fill="hold"/>
                                        <p:tgtEl>
                                          <p:spTgt spid="7">
                                            <p:txEl>
                                              <p:pRg st="4" end="4"/>
                                            </p:txEl>
                                          </p:spTgt>
                                        </p:tgtEl>
                                        <p:attrNameLst>
                                          <p:attrName>ppt_x</p:attrName>
                                        </p:attrNameLst>
                                      </p:cBhvr>
                                      <p:tavLst>
                                        <p:tav tm="0">
                                          <p:val>
                                            <p:strVal val="#ppt_x"/>
                                          </p:val>
                                        </p:tav>
                                        <p:tav tm="100000">
                                          <p:val>
                                            <p:strVal val="#ppt_x"/>
                                          </p:val>
                                        </p:tav>
                                      </p:tavLst>
                                    </p:anim>
                                    <p:anim calcmode="lin" valueType="num">
                                      <p:cBhvr>
                                        <p:cTn id="44" dur="1000" fill="hold"/>
                                        <p:tgtEl>
                                          <p:spTgt spid="7">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7">
                                            <p:txEl>
                                              <p:pRg st="5" end="5"/>
                                            </p:txEl>
                                          </p:spTgt>
                                        </p:tgtEl>
                                        <p:attrNameLst>
                                          <p:attrName>style.visibility</p:attrName>
                                        </p:attrNameLst>
                                      </p:cBhvr>
                                      <p:to>
                                        <p:strVal val="visible"/>
                                      </p:to>
                                    </p:set>
                                    <p:animEffect transition="in" filter="fade">
                                      <p:cBhvr>
                                        <p:cTn id="49" dur="1000"/>
                                        <p:tgtEl>
                                          <p:spTgt spid="7">
                                            <p:txEl>
                                              <p:pRg st="5" end="5"/>
                                            </p:txEl>
                                          </p:spTgt>
                                        </p:tgtEl>
                                      </p:cBhvr>
                                    </p:animEffect>
                                    <p:anim calcmode="lin" valueType="num">
                                      <p:cBhvr>
                                        <p:cTn id="50" dur="1000" fill="hold"/>
                                        <p:tgtEl>
                                          <p:spTgt spid="7">
                                            <p:txEl>
                                              <p:pRg st="5" end="5"/>
                                            </p:txEl>
                                          </p:spTgt>
                                        </p:tgtEl>
                                        <p:attrNameLst>
                                          <p:attrName>ppt_x</p:attrName>
                                        </p:attrNameLst>
                                      </p:cBhvr>
                                      <p:tavLst>
                                        <p:tav tm="0">
                                          <p:val>
                                            <p:strVal val="#ppt_x"/>
                                          </p:val>
                                        </p:tav>
                                        <p:tav tm="100000">
                                          <p:val>
                                            <p:strVal val="#ppt_x"/>
                                          </p:val>
                                        </p:tav>
                                      </p:tavLst>
                                    </p:anim>
                                    <p:anim calcmode="lin" valueType="num">
                                      <p:cBhvr>
                                        <p:cTn id="51" dur="1000" fill="hold"/>
                                        <p:tgtEl>
                                          <p:spTgt spid="7">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0040"/>
            <a:ext cx="4572000" cy="228600"/>
          </a:xfrm>
          <a:prstGeom prst="rect">
            <a:avLst/>
          </a:prstGeom>
          <a:noFill/>
        </p:spPr>
        <p:txBody>
          <a:bodyPr wrap="square" lIns="0" rIns="0">
            <a:spAutoFit/>
          </a:bodyPr>
          <a:lstStyle/>
          <a:p>
            <a:pPr algn="l">
              <a:defRPr sz="1000" b="1">
                <a:solidFill>
                  <a:srgbClr val="2B5EA6"/>
                </a:solidFill>
              </a:defRPr>
            </a:pPr>
            <a:r>
              <a:t>07</a:t>
            </a:r>
          </a:p>
        </p:txBody>
      </p:sp>
      <p:sp>
        <p:nvSpPr>
          <p:cNvPr id="4" name="TextBox 3"/>
          <p:cNvSpPr txBox="1"/>
          <p:nvPr/>
        </p:nvSpPr>
        <p:spPr>
          <a:xfrm>
            <a:off x="640080" y="594360"/>
            <a:ext cx="10972800" cy="548640"/>
          </a:xfrm>
          <a:prstGeom prst="rect">
            <a:avLst/>
          </a:prstGeom>
          <a:noFill/>
        </p:spPr>
        <p:txBody>
          <a:bodyPr wrap="square" lIns="0" rIns="0">
            <a:spAutoFit/>
          </a:bodyPr>
          <a:lstStyle/>
          <a:p>
            <a:pPr algn="l">
              <a:defRPr sz="2700" b="1">
                <a:solidFill>
                  <a:srgbClr val="152238"/>
                </a:solidFill>
              </a:defRPr>
            </a:pPr>
            <a:r>
              <a:t>Neighbourhood / Location Distribution</a:t>
            </a:r>
          </a:p>
        </p:txBody>
      </p:sp>
      <p:sp>
        <p:nvSpPr>
          <p:cNvPr id="5" name="TextBox 4"/>
          <p:cNvSpPr txBox="1"/>
          <p:nvPr/>
        </p:nvSpPr>
        <p:spPr>
          <a:xfrm>
            <a:off x="777240" y="1234440"/>
            <a:ext cx="2743200" cy="274320"/>
          </a:xfrm>
          <a:prstGeom prst="rect">
            <a:avLst/>
          </a:prstGeom>
          <a:noFill/>
        </p:spPr>
        <p:txBody>
          <a:bodyPr wrap="square" lIns="0" rIns="0">
            <a:spAutoFit/>
          </a:bodyPr>
          <a:lstStyle/>
          <a:p>
            <a:pPr algn="l">
              <a:defRPr sz="1200" b="1">
                <a:solidFill>
                  <a:srgbClr val="232830"/>
                </a:solidFill>
              </a:defRPr>
            </a:pPr>
            <a:r>
              <a:t>Manhattan</a:t>
            </a:r>
          </a:p>
        </p:txBody>
      </p:sp>
      <p:sp>
        <p:nvSpPr>
          <p:cNvPr id="6" name="Rectangle 5"/>
          <p:cNvSpPr/>
          <p:nvPr/>
        </p:nvSpPr>
        <p:spPr>
          <a:xfrm>
            <a:off x="3337560" y="1261872"/>
            <a:ext cx="6309360" cy="237744"/>
          </a:xfrm>
          <a:prstGeom prst="rect">
            <a:avLst/>
          </a:prstGeom>
          <a:solidFill>
            <a:srgbClr val="1A8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829800" y="1225296"/>
            <a:ext cx="1097280" cy="274320"/>
          </a:xfrm>
          <a:prstGeom prst="rect">
            <a:avLst/>
          </a:prstGeom>
          <a:noFill/>
        </p:spPr>
        <p:txBody>
          <a:bodyPr wrap="square" lIns="0" rIns="0">
            <a:spAutoFit/>
          </a:bodyPr>
          <a:lstStyle/>
          <a:p>
            <a:pPr algn="r">
              <a:defRPr sz="1100" b="1">
                <a:solidFill>
                  <a:srgbClr val="152238"/>
                </a:solidFill>
              </a:defRPr>
            </a:pPr>
            <a:r>
              <a:t>43,792</a:t>
            </a:r>
          </a:p>
        </p:txBody>
      </p:sp>
      <p:sp>
        <p:nvSpPr>
          <p:cNvPr id="8" name="TextBox 7"/>
          <p:cNvSpPr txBox="1"/>
          <p:nvPr/>
        </p:nvSpPr>
        <p:spPr>
          <a:xfrm>
            <a:off x="777240" y="1746504"/>
            <a:ext cx="2743200" cy="274320"/>
          </a:xfrm>
          <a:prstGeom prst="rect">
            <a:avLst/>
          </a:prstGeom>
          <a:noFill/>
        </p:spPr>
        <p:txBody>
          <a:bodyPr wrap="square" lIns="0" rIns="0">
            <a:spAutoFit/>
          </a:bodyPr>
          <a:lstStyle/>
          <a:p>
            <a:pPr algn="l">
              <a:defRPr sz="1200" b="1">
                <a:solidFill>
                  <a:srgbClr val="232830"/>
                </a:solidFill>
              </a:defRPr>
            </a:pPr>
            <a:r>
              <a:t>Brooklyn</a:t>
            </a:r>
          </a:p>
        </p:txBody>
      </p:sp>
      <p:sp>
        <p:nvSpPr>
          <p:cNvPr id="9" name="Rectangle 8"/>
          <p:cNvSpPr/>
          <p:nvPr/>
        </p:nvSpPr>
        <p:spPr>
          <a:xfrm>
            <a:off x="3337560" y="1773936"/>
            <a:ext cx="6028412" cy="237744"/>
          </a:xfrm>
          <a:prstGeom prst="rect">
            <a:avLst/>
          </a:prstGeom>
          <a:solidFill>
            <a:srgbClr val="1A8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829800" y="1737360"/>
            <a:ext cx="1097280" cy="274320"/>
          </a:xfrm>
          <a:prstGeom prst="rect">
            <a:avLst/>
          </a:prstGeom>
          <a:noFill/>
        </p:spPr>
        <p:txBody>
          <a:bodyPr wrap="square" lIns="0" rIns="0">
            <a:spAutoFit/>
          </a:bodyPr>
          <a:lstStyle/>
          <a:p>
            <a:pPr algn="r">
              <a:defRPr sz="1100" b="1">
                <a:solidFill>
                  <a:srgbClr val="152238"/>
                </a:solidFill>
              </a:defRPr>
            </a:pPr>
            <a:r>
              <a:t>41,842</a:t>
            </a:r>
          </a:p>
        </p:txBody>
      </p:sp>
      <p:sp>
        <p:nvSpPr>
          <p:cNvPr id="11" name="TextBox 10"/>
          <p:cNvSpPr txBox="1"/>
          <p:nvPr/>
        </p:nvSpPr>
        <p:spPr>
          <a:xfrm>
            <a:off x="777240" y="2258568"/>
            <a:ext cx="2743200" cy="274320"/>
          </a:xfrm>
          <a:prstGeom prst="rect">
            <a:avLst/>
          </a:prstGeom>
          <a:noFill/>
        </p:spPr>
        <p:txBody>
          <a:bodyPr wrap="square" lIns="0" rIns="0">
            <a:spAutoFit/>
          </a:bodyPr>
          <a:lstStyle/>
          <a:p>
            <a:pPr algn="l">
              <a:defRPr sz="1200" b="1">
                <a:solidFill>
                  <a:srgbClr val="232830"/>
                </a:solidFill>
              </a:defRPr>
            </a:pPr>
            <a:r>
              <a:t>Queens</a:t>
            </a:r>
          </a:p>
        </p:txBody>
      </p:sp>
      <p:sp>
        <p:nvSpPr>
          <p:cNvPr id="12" name="Rectangle 11"/>
          <p:cNvSpPr/>
          <p:nvPr/>
        </p:nvSpPr>
        <p:spPr>
          <a:xfrm>
            <a:off x="3337560" y="2286000"/>
            <a:ext cx="1911451" cy="237744"/>
          </a:xfrm>
          <a:prstGeom prst="rect">
            <a:avLst/>
          </a:prstGeom>
          <a:solidFill>
            <a:srgbClr val="1A8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829800" y="2249424"/>
            <a:ext cx="1097280" cy="274320"/>
          </a:xfrm>
          <a:prstGeom prst="rect">
            <a:avLst/>
          </a:prstGeom>
          <a:noFill/>
        </p:spPr>
        <p:txBody>
          <a:bodyPr wrap="square" lIns="0" rIns="0">
            <a:spAutoFit/>
          </a:bodyPr>
          <a:lstStyle/>
          <a:p>
            <a:pPr algn="r">
              <a:defRPr sz="1100" b="1">
                <a:solidFill>
                  <a:srgbClr val="152238"/>
                </a:solidFill>
              </a:defRPr>
            </a:pPr>
            <a:r>
              <a:t>13,267</a:t>
            </a:r>
          </a:p>
        </p:txBody>
      </p:sp>
      <p:sp>
        <p:nvSpPr>
          <p:cNvPr id="14" name="TextBox 13"/>
          <p:cNvSpPr txBox="1"/>
          <p:nvPr/>
        </p:nvSpPr>
        <p:spPr>
          <a:xfrm>
            <a:off x="777240" y="2770632"/>
            <a:ext cx="2743200" cy="274320"/>
          </a:xfrm>
          <a:prstGeom prst="rect">
            <a:avLst/>
          </a:prstGeom>
          <a:noFill/>
        </p:spPr>
        <p:txBody>
          <a:bodyPr wrap="square" lIns="0" rIns="0">
            <a:spAutoFit/>
          </a:bodyPr>
          <a:lstStyle/>
          <a:p>
            <a:pPr algn="l">
              <a:defRPr sz="1200" b="1">
                <a:solidFill>
                  <a:srgbClr val="232830"/>
                </a:solidFill>
              </a:defRPr>
            </a:pPr>
            <a:r>
              <a:t>Bronx</a:t>
            </a:r>
          </a:p>
        </p:txBody>
      </p:sp>
      <p:sp>
        <p:nvSpPr>
          <p:cNvPr id="15" name="Rectangle 14"/>
          <p:cNvSpPr/>
          <p:nvPr/>
        </p:nvSpPr>
        <p:spPr>
          <a:xfrm>
            <a:off x="3337560" y="2798064"/>
            <a:ext cx="390733" cy="237744"/>
          </a:xfrm>
          <a:prstGeom prst="rect">
            <a:avLst/>
          </a:prstGeom>
          <a:solidFill>
            <a:srgbClr val="1A8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829800" y="2761488"/>
            <a:ext cx="1097280" cy="274320"/>
          </a:xfrm>
          <a:prstGeom prst="rect">
            <a:avLst/>
          </a:prstGeom>
          <a:noFill/>
        </p:spPr>
        <p:txBody>
          <a:bodyPr wrap="square" lIns="0" rIns="0">
            <a:spAutoFit/>
          </a:bodyPr>
          <a:lstStyle/>
          <a:p>
            <a:pPr algn="r">
              <a:defRPr sz="1100" b="1">
                <a:solidFill>
                  <a:srgbClr val="152238"/>
                </a:solidFill>
              </a:defRPr>
            </a:pPr>
            <a:r>
              <a:t>2,712</a:t>
            </a:r>
          </a:p>
        </p:txBody>
      </p:sp>
      <p:sp>
        <p:nvSpPr>
          <p:cNvPr id="17" name="TextBox 16"/>
          <p:cNvSpPr txBox="1"/>
          <p:nvPr/>
        </p:nvSpPr>
        <p:spPr>
          <a:xfrm>
            <a:off x="777240" y="3282696"/>
            <a:ext cx="2743200" cy="274320"/>
          </a:xfrm>
          <a:prstGeom prst="rect">
            <a:avLst/>
          </a:prstGeom>
          <a:noFill/>
        </p:spPr>
        <p:txBody>
          <a:bodyPr wrap="square" lIns="0" rIns="0">
            <a:spAutoFit/>
          </a:bodyPr>
          <a:lstStyle/>
          <a:p>
            <a:pPr algn="l">
              <a:defRPr sz="1200" b="1">
                <a:solidFill>
                  <a:srgbClr val="232830"/>
                </a:solidFill>
              </a:defRPr>
            </a:pPr>
            <a:r>
              <a:t>Staten Island</a:t>
            </a:r>
          </a:p>
        </p:txBody>
      </p:sp>
      <p:sp>
        <p:nvSpPr>
          <p:cNvPr id="18" name="Rectangle 17"/>
          <p:cNvSpPr/>
          <p:nvPr/>
        </p:nvSpPr>
        <p:spPr>
          <a:xfrm>
            <a:off x="3337560" y="3310128"/>
            <a:ext cx="137592" cy="237744"/>
          </a:xfrm>
          <a:prstGeom prst="rect">
            <a:avLst/>
          </a:prstGeom>
          <a:solidFill>
            <a:srgbClr val="1A8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829800" y="3273552"/>
            <a:ext cx="1097280" cy="274320"/>
          </a:xfrm>
          <a:prstGeom prst="rect">
            <a:avLst/>
          </a:prstGeom>
          <a:noFill/>
        </p:spPr>
        <p:txBody>
          <a:bodyPr wrap="square" lIns="0" rIns="0">
            <a:spAutoFit/>
          </a:bodyPr>
          <a:lstStyle/>
          <a:p>
            <a:pPr algn="r">
              <a:defRPr sz="1100" b="1">
                <a:solidFill>
                  <a:srgbClr val="152238"/>
                </a:solidFill>
              </a:defRPr>
            </a:pPr>
            <a:r>
              <a:t>955</a:t>
            </a:r>
          </a:p>
        </p:txBody>
      </p:sp>
      <p:sp>
        <p:nvSpPr>
          <p:cNvPr id="20" name="TextBox 19"/>
          <p:cNvSpPr txBox="1"/>
          <p:nvPr/>
        </p:nvSpPr>
        <p:spPr>
          <a:xfrm>
            <a:off x="777240" y="3794760"/>
            <a:ext cx="2743200" cy="274320"/>
          </a:xfrm>
          <a:prstGeom prst="rect">
            <a:avLst/>
          </a:prstGeom>
          <a:noFill/>
        </p:spPr>
        <p:txBody>
          <a:bodyPr wrap="square" lIns="0" rIns="0">
            <a:spAutoFit/>
          </a:bodyPr>
          <a:lstStyle/>
          <a:p>
            <a:pPr algn="l">
              <a:defRPr sz="1200" b="1">
                <a:solidFill>
                  <a:srgbClr val="232830"/>
                </a:solidFill>
              </a:defRPr>
            </a:pPr>
            <a:r>
              <a:t>brookln</a:t>
            </a:r>
          </a:p>
        </p:txBody>
      </p:sp>
      <p:sp>
        <p:nvSpPr>
          <p:cNvPr id="21" name="Rectangle 20"/>
          <p:cNvSpPr/>
          <p:nvPr/>
        </p:nvSpPr>
        <p:spPr>
          <a:xfrm>
            <a:off x="3337560" y="3822192"/>
            <a:ext cx="144" cy="237744"/>
          </a:xfrm>
          <a:prstGeom prst="rect">
            <a:avLst/>
          </a:prstGeom>
          <a:solidFill>
            <a:srgbClr val="1A8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829800" y="3785616"/>
            <a:ext cx="1097280" cy="274320"/>
          </a:xfrm>
          <a:prstGeom prst="rect">
            <a:avLst/>
          </a:prstGeom>
          <a:noFill/>
        </p:spPr>
        <p:txBody>
          <a:bodyPr wrap="square" lIns="0" rIns="0">
            <a:spAutoFit/>
          </a:bodyPr>
          <a:lstStyle/>
          <a:p>
            <a:pPr algn="r">
              <a:defRPr sz="1100" b="1">
                <a:solidFill>
                  <a:srgbClr val="152238"/>
                </a:solidFill>
              </a:defRPr>
            </a:pPr>
            <a:r>
              <a:t>1</a:t>
            </a:r>
          </a:p>
        </p:txBody>
      </p:sp>
      <p:sp>
        <p:nvSpPr>
          <p:cNvPr id="23" name="TextBox 22"/>
          <p:cNvSpPr txBox="1"/>
          <p:nvPr/>
        </p:nvSpPr>
        <p:spPr>
          <a:xfrm>
            <a:off x="777240" y="4306824"/>
            <a:ext cx="2743200" cy="274320"/>
          </a:xfrm>
          <a:prstGeom prst="rect">
            <a:avLst/>
          </a:prstGeom>
          <a:noFill/>
        </p:spPr>
        <p:txBody>
          <a:bodyPr wrap="square" lIns="0" rIns="0">
            <a:spAutoFit/>
          </a:bodyPr>
          <a:lstStyle/>
          <a:p>
            <a:pPr algn="l">
              <a:defRPr sz="1200" b="1">
                <a:solidFill>
                  <a:srgbClr val="232830"/>
                </a:solidFill>
              </a:defRPr>
            </a:pPr>
            <a:r>
              <a:t>manhatan</a:t>
            </a:r>
          </a:p>
        </p:txBody>
      </p:sp>
      <p:sp>
        <p:nvSpPr>
          <p:cNvPr id="24" name="Rectangle 23"/>
          <p:cNvSpPr/>
          <p:nvPr/>
        </p:nvSpPr>
        <p:spPr>
          <a:xfrm>
            <a:off x="3337560" y="4334256"/>
            <a:ext cx="144" cy="237744"/>
          </a:xfrm>
          <a:prstGeom prst="rect">
            <a:avLst/>
          </a:prstGeom>
          <a:solidFill>
            <a:srgbClr val="1A82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829800" y="4297680"/>
            <a:ext cx="1097280" cy="274320"/>
          </a:xfrm>
          <a:prstGeom prst="rect">
            <a:avLst/>
          </a:prstGeom>
          <a:noFill/>
        </p:spPr>
        <p:txBody>
          <a:bodyPr wrap="square" lIns="0" rIns="0">
            <a:spAutoFit/>
          </a:bodyPr>
          <a:lstStyle/>
          <a:p>
            <a:pPr algn="r">
              <a:defRPr sz="1100" b="1">
                <a:solidFill>
                  <a:srgbClr val="152238"/>
                </a:solidFill>
              </a:defRPr>
            </a:pPr>
            <a:r>
              <a:t>1</a:t>
            </a:r>
          </a:p>
        </p:txBody>
      </p:sp>
      <p:sp>
        <p:nvSpPr>
          <p:cNvPr id="26" name="TextBox 25"/>
          <p:cNvSpPr txBox="1"/>
          <p:nvPr/>
        </p:nvSpPr>
        <p:spPr>
          <a:xfrm>
            <a:off x="777240" y="5486400"/>
            <a:ext cx="10058400" cy="365760"/>
          </a:xfrm>
          <a:prstGeom prst="rect">
            <a:avLst/>
          </a:prstGeom>
          <a:noFill/>
        </p:spPr>
        <p:txBody>
          <a:bodyPr wrap="square" lIns="0" rIns="0">
            <a:spAutoFit/>
          </a:bodyPr>
          <a:lstStyle/>
          <a:p>
            <a:pPr algn="l">
              <a:defRPr sz="1400" b="0">
                <a:solidFill>
                  <a:srgbClr val="5C6878"/>
                </a:solidFill>
              </a:defRPr>
            </a:pPr>
            <a:r>
              <a:t>This shows where listing supply is concentrated in the dataset.</a:t>
            </a:r>
          </a:p>
        </p:txBody>
      </p:sp>
      <p:sp>
        <p:nvSpPr>
          <p:cNvPr id="28" name="TextBox 27"/>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8</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0040"/>
            <a:ext cx="4572000" cy="228600"/>
          </a:xfrm>
          <a:prstGeom prst="rect">
            <a:avLst/>
          </a:prstGeom>
          <a:noFill/>
        </p:spPr>
        <p:txBody>
          <a:bodyPr wrap="square" lIns="0" rIns="0">
            <a:spAutoFit/>
          </a:bodyPr>
          <a:lstStyle/>
          <a:p>
            <a:pPr algn="l">
              <a:defRPr sz="1000" b="1">
                <a:solidFill>
                  <a:srgbClr val="2B5EA6"/>
                </a:solidFill>
              </a:defRPr>
            </a:pPr>
            <a:r>
              <a:t>08</a:t>
            </a:r>
          </a:p>
        </p:txBody>
      </p:sp>
      <p:sp>
        <p:nvSpPr>
          <p:cNvPr id="4" name="TextBox 3"/>
          <p:cNvSpPr txBox="1"/>
          <p:nvPr/>
        </p:nvSpPr>
        <p:spPr>
          <a:xfrm>
            <a:off x="640080" y="594360"/>
            <a:ext cx="10972800" cy="548640"/>
          </a:xfrm>
          <a:prstGeom prst="rect">
            <a:avLst/>
          </a:prstGeom>
          <a:noFill/>
        </p:spPr>
        <p:txBody>
          <a:bodyPr wrap="square" lIns="0" rIns="0">
            <a:spAutoFit/>
          </a:bodyPr>
          <a:lstStyle/>
          <a:p>
            <a:pPr algn="l">
              <a:defRPr sz="2700" b="1">
                <a:solidFill>
                  <a:srgbClr val="152238"/>
                </a:solidFill>
              </a:defRPr>
            </a:pPr>
            <a:r>
              <a:t>Price Analysis</a:t>
            </a:r>
          </a:p>
        </p:txBody>
      </p:sp>
      <p:sp>
        <p:nvSpPr>
          <p:cNvPr id="5" name="Rounded Rectangle 4"/>
          <p:cNvSpPr/>
          <p:nvPr/>
        </p:nvSpPr>
        <p:spPr>
          <a:xfrm>
            <a:off x="731520" y="1325880"/>
            <a:ext cx="2514600" cy="118872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96112" y="1508760"/>
            <a:ext cx="2185416" cy="411480"/>
          </a:xfrm>
          <a:prstGeom prst="rect">
            <a:avLst/>
          </a:prstGeom>
          <a:noFill/>
        </p:spPr>
        <p:txBody>
          <a:bodyPr wrap="square" lIns="0" rIns="0">
            <a:spAutoFit/>
          </a:bodyPr>
          <a:lstStyle/>
          <a:p>
            <a:pPr algn="l">
              <a:defRPr sz="2200" b="1">
                <a:solidFill>
                  <a:srgbClr val="152238"/>
                </a:solidFill>
              </a:defRPr>
            </a:pPr>
            <a:r>
              <a:t>625.29</a:t>
            </a:r>
          </a:p>
        </p:txBody>
      </p:sp>
      <p:sp>
        <p:nvSpPr>
          <p:cNvPr id="7" name="TextBox 6"/>
          <p:cNvSpPr txBox="1"/>
          <p:nvPr/>
        </p:nvSpPr>
        <p:spPr>
          <a:xfrm>
            <a:off x="896112" y="2039112"/>
            <a:ext cx="2185416" cy="274320"/>
          </a:xfrm>
          <a:prstGeom prst="rect">
            <a:avLst/>
          </a:prstGeom>
          <a:noFill/>
        </p:spPr>
        <p:txBody>
          <a:bodyPr wrap="square" lIns="0" rIns="0">
            <a:spAutoFit/>
          </a:bodyPr>
          <a:lstStyle/>
          <a:p>
            <a:pPr algn="l">
              <a:defRPr sz="1000" b="0">
                <a:solidFill>
                  <a:srgbClr val="5C6878"/>
                </a:solidFill>
              </a:defRPr>
            </a:pPr>
            <a:r>
              <a:t>Mean</a:t>
            </a:r>
          </a:p>
        </p:txBody>
      </p:sp>
      <p:sp>
        <p:nvSpPr>
          <p:cNvPr id="8" name="Rounded Rectangle 7"/>
          <p:cNvSpPr/>
          <p:nvPr/>
        </p:nvSpPr>
        <p:spPr>
          <a:xfrm>
            <a:off x="3520440" y="1325880"/>
            <a:ext cx="2514600" cy="118872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3685032" y="1508760"/>
            <a:ext cx="2185416" cy="411480"/>
          </a:xfrm>
          <a:prstGeom prst="rect">
            <a:avLst/>
          </a:prstGeom>
          <a:noFill/>
        </p:spPr>
        <p:txBody>
          <a:bodyPr wrap="square" lIns="0" rIns="0">
            <a:spAutoFit/>
          </a:bodyPr>
          <a:lstStyle/>
          <a:p>
            <a:pPr algn="l">
              <a:defRPr sz="2200" b="1">
                <a:solidFill>
                  <a:srgbClr val="152238"/>
                </a:solidFill>
              </a:defRPr>
            </a:pPr>
            <a:r>
              <a:t>624</a:t>
            </a:r>
          </a:p>
        </p:txBody>
      </p:sp>
      <p:sp>
        <p:nvSpPr>
          <p:cNvPr id="10" name="TextBox 9"/>
          <p:cNvSpPr txBox="1"/>
          <p:nvPr/>
        </p:nvSpPr>
        <p:spPr>
          <a:xfrm>
            <a:off x="3685032" y="2039112"/>
            <a:ext cx="2185416" cy="274320"/>
          </a:xfrm>
          <a:prstGeom prst="rect">
            <a:avLst/>
          </a:prstGeom>
          <a:noFill/>
        </p:spPr>
        <p:txBody>
          <a:bodyPr wrap="square" lIns="0" rIns="0">
            <a:spAutoFit/>
          </a:bodyPr>
          <a:lstStyle/>
          <a:p>
            <a:pPr algn="l">
              <a:defRPr sz="1000" b="0">
                <a:solidFill>
                  <a:srgbClr val="5C6878"/>
                </a:solidFill>
              </a:defRPr>
            </a:pPr>
            <a:r>
              <a:t>Median</a:t>
            </a:r>
          </a:p>
        </p:txBody>
      </p:sp>
      <p:sp>
        <p:nvSpPr>
          <p:cNvPr id="11" name="Rounded Rectangle 10"/>
          <p:cNvSpPr/>
          <p:nvPr/>
        </p:nvSpPr>
        <p:spPr>
          <a:xfrm>
            <a:off x="6309360" y="1325880"/>
            <a:ext cx="2514600" cy="118872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473952" y="1508760"/>
            <a:ext cx="2185416" cy="411480"/>
          </a:xfrm>
          <a:prstGeom prst="rect">
            <a:avLst/>
          </a:prstGeom>
          <a:noFill/>
        </p:spPr>
        <p:txBody>
          <a:bodyPr wrap="square" lIns="0" rIns="0">
            <a:spAutoFit/>
          </a:bodyPr>
          <a:lstStyle/>
          <a:p>
            <a:pPr algn="l">
              <a:defRPr sz="2200" b="1">
                <a:solidFill>
                  <a:srgbClr val="152238"/>
                </a:solidFill>
              </a:defRPr>
            </a:pPr>
            <a:r>
              <a:t>340</a:t>
            </a:r>
          </a:p>
        </p:txBody>
      </p:sp>
      <p:sp>
        <p:nvSpPr>
          <p:cNvPr id="13" name="TextBox 12"/>
          <p:cNvSpPr txBox="1"/>
          <p:nvPr/>
        </p:nvSpPr>
        <p:spPr>
          <a:xfrm>
            <a:off x="6473952" y="2039112"/>
            <a:ext cx="2185416" cy="274320"/>
          </a:xfrm>
          <a:prstGeom prst="rect">
            <a:avLst/>
          </a:prstGeom>
          <a:noFill/>
        </p:spPr>
        <p:txBody>
          <a:bodyPr wrap="square" lIns="0" rIns="0">
            <a:spAutoFit/>
          </a:bodyPr>
          <a:lstStyle/>
          <a:p>
            <a:pPr algn="l">
              <a:defRPr sz="1000" b="0">
                <a:solidFill>
                  <a:srgbClr val="5C6878"/>
                </a:solidFill>
              </a:defRPr>
            </a:pPr>
            <a:r>
              <a:t>Q1</a:t>
            </a:r>
          </a:p>
        </p:txBody>
      </p:sp>
      <p:sp>
        <p:nvSpPr>
          <p:cNvPr id="14" name="Rounded Rectangle 13"/>
          <p:cNvSpPr/>
          <p:nvPr/>
        </p:nvSpPr>
        <p:spPr>
          <a:xfrm>
            <a:off x="9098280" y="1325880"/>
            <a:ext cx="2514600" cy="1188720"/>
          </a:xfrm>
          <a:prstGeom prst="roundRect">
            <a:avLst/>
          </a:prstGeom>
          <a:solidFill>
            <a:srgbClr val="F4F7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62872" y="1508760"/>
            <a:ext cx="2185416" cy="411480"/>
          </a:xfrm>
          <a:prstGeom prst="rect">
            <a:avLst/>
          </a:prstGeom>
          <a:noFill/>
        </p:spPr>
        <p:txBody>
          <a:bodyPr wrap="square" lIns="0" rIns="0">
            <a:spAutoFit/>
          </a:bodyPr>
          <a:lstStyle/>
          <a:p>
            <a:pPr algn="l">
              <a:defRPr sz="2200" b="1">
                <a:solidFill>
                  <a:srgbClr val="152238"/>
                </a:solidFill>
              </a:defRPr>
            </a:pPr>
            <a:r>
              <a:t>913</a:t>
            </a:r>
          </a:p>
        </p:txBody>
      </p:sp>
      <p:sp>
        <p:nvSpPr>
          <p:cNvPr id="16" name="TextBox 15"/>
          <p:cNvSpPr txBox="1"/>
          <p:nvPr/>
        </p:nvSpPr>
        <p:spPr>
          <a:xfrm>
            <a:off x="9262872" y="2039112"/>
            <a:ext cx="2185416" cy="274320"/>
          </a:xfrm>
          <a:prstGeom prst="rect">
            <a:avLst/>
          </a:prstGeom>
          <a:noFill/>
        </p:spPr>
        <p:txBody>
          <a:bodyPr wrap="square" lIns="0" rIns="0">
            <a:spAutoFit/>
          </a:bodyPr>
          <a:lstStyle/>
          <a:p>
            <a:pPr algn="l">
              <a:defRPr sz="1000" b="0">
                <a:solidFill>
                  <a:srgbClr val="5C6878"/>
                </a:solidFill>
              </a:defRPr>
            </a:pPr>
            <a:r>
              <a:t>Q3</a:t>
            </a:r>
          </a:p>
        </p:txBody>
      </p:sp>
      <p:sp>
        <p:nvSpPr>
          <p:cNvPr id="17" name="TextBox 16"/>
          <p:cNvSpPr txBox="1"/>
          <p:nvPr/>
        </p:nvSpPr>
        <p:spPr>
          <a:xfrm>
            <a:off x="777240" y="3063240"/>
            <a:ext cx="1188720" cy="228600"/>
          </a:xfrm>
          <a:prstGeom prst="rect">
            <a:avLst/>
          </a:prstGeom>
          <a:noFill/>
        </p:spPr>
        <p:txBody>
          <a:bodyPr wrap="square" lIns="0" rIns="0">
            <a:spAutoFit/>
          </a:bodyPr>
          <a:lstStyle/>
          <a:p>
            <a:pPr algn="ctr">
              <a:defRPr sz="1000" b="1">
                <a:solidFill>
                  <a:srgbClr val="5C6878"/>
                </a:solidFill>
              </a:defRPr>
            </a:pPr>
            <a:r>
              <a:t>Min</a:t>
            </a:r>
          </a:p>
        </p:txBody>
      </p:sp>
      <p:sp>
        <p:nvSpPr>
          <p:cNvPr id="18" name="TextBox 17"/>
          <p:cNvSpPr txBox="1"/>
          <p:nvPr/>
        </p:nvSpPr>
        <p:spPr>
          <a:xfrm>
            <a:off x="777240" y="3383280"/>
            <a:ext cx="1188720" cy="320040"/>
          </a:xfrm>
          <a:prstGeom prst="rect">
            <a:avLst/>
          </a:prstGeom>
          <a:noFill/>
        </p:spPr>
        <p:txBody>
          <a:bodyPr wrap="square" lIns="0" rIns="0">
            <a:spAutoFit/>
          </a:bodyPr>
          <a:lstStyle/>
          <a:p>
            <a:pPr algn="ctr">
              <a:defRPr sz="1300" b="1">
                <a:solidFill>
                  <a:srgbClr val="152238"/>
                </a:solidFill>
              </a:defRPr>
            </a:pPr>
            <a:r>
              <a:t>50</a:t>
            </a:r>
          </a:p>
        </p:txBody>
      </p:sp>
      <p:sp>
        <p:nvSpPr>
          <p:cNvPr id="19" name="TextBox 18"/>
          <p:cNvSpPr txBox="1"/>
          <p:nvPr/>
        </p:nvSpPr>
        <p:spPr>
          <a:xfrm>
            <a:off x="2377440" y="3063240"/>
            <a:ext cx="1188720" cy="228600"/>
          </a:xfrm>
          <a:prstGeom prst="rect">
            <a:avLst/>
          </a:prstGeom>
          <a:noFill/>
        </p:spPr>
        <p:txBody>
          <a:bodyPr wrap="square" lIns="0" rIns="0">
            <a:spAutoFit/>
          </a:bodyPr>
          <a:lstStyle/>
          <a:p>
            <a:pPr algn="ctr">
              <a:defRPr sz="1000" b="1">
                <a:solidFill>
                  <a:srgbClr val="5C6878"/>
                </a:solidFill>
              </a:defRPr>
            </a:pPr>
            <a:r>
              <a:t>P10</a:t>
            </a:r>
          </a:p>
        </p:txBody>
      </p:sp>
      <p:sp>
        <p:nvSpPr>
          <p:cNvPr id="20" name="TextBox 19"/>
          <p:cNvSpPr txBox="1"/>
          <p:nvPr/>
        </p:nvSpPr>
        <p:spPr>
          <a:xfrm>
            <a:off x="2377440" y="3383280"/>
            <a:ext cx="1188720" cy="320040"/>
          </a:xfrm>
          <a:prstGeom prst="rect">
            <a:avLst/>
          </a:prstGeom>
          <a:noFill/>
        </p:spPr>
        <p:txBody>
          <a:bodyPr wrap="square" lIns="0" rIns="0">
            <a:spAutoFit/>
          </a:bodyPr>
          <a:lstStyle/>
          <a:p>
            <a:pPr algn="ctr">
              <a:defRPr sz="1300" b="1">
                <a:solidFill>
                  <a:srgbClr val="152238"/>
                </a:solidFill>
              </a:defRPr>
            </a:pPr>
            <a:r>
              <a:t>165</a:t>
            </a:r>
          </a:p>
        </p:txBody>
      </p:sp>
      <p:sp>
        <p:nvSpPr>
          <p:cNvPr id="21" name="TextBox 20"/>
          <p:cNvSpPr txBox="1"/>
          <p:nvPr/>
        </p:nvSpPr>
        <p:spPr>
          <a:xfrm>
            <a:off x="3977639" y="3063240"/>
            <a:ext cx="1188720" cy="228600"/>
          </a:xfrm>
          <a:prstGeom prst="rect">
            <a:avLst/>
          </a:prstGeom>
          <a:noFill/>
        </p:spPr>
        <p:txBody>
          <a:bodyPr wrap="square" lIns="0" rIns="0">
            <a:spAutoFit/>
          </a:bodyPr>
          <a:lstStyle/>
          <a:p>
            <a:pPr algn="ctr">
              <a:defRPr sz="1000" b="1">
                <a:solidFill>
                  <a:srgbClr val="5C6878"/>
                </a:solidFill>
              </a:defRPr>
            </a:pPr>
            <a:r>
              <a:t>Q1</a:t>
            </a:r>
          </a:p>
        </p:txBody>
      </p:sp>
      <p:sp>
        <p:nvSpPr>
          <p:cNvPr id="22" name="TextBox 21"/>
          <p:cNvSpPr txBox="1"/>
          <p:nvPr/>
        </p:nvSpPr>
        <p:spPr>
          <a:xfrm>
            <a:off x="3977639" y="3383280"/>
            <a:ext cx="1188720" cy="320040"/>
          </a:xfrm>
          <a:prstGeom prst="rect">
            <a:avLst/>
          </a:prstGeom>
          <a:noFill/>
        </p:spPr>
        <p:txBody>
          <a:bodyPr wrap="square" lIns="0" rIns="0">
            <a:spAutoFit/>
          </a:bodyPr>
          <a:lstStyle/>
          <a:p>
            <a:pPr algn="ctr">
              <a:defRPr sz="1300" b="1">
                <a:solidFill>
                  <a:srgbClr val="152238"/>
                </a:solidFill>
              </a:defRPr>
            </a:pPr>
            <a:r>
              <a:t>340</a:t>
            </a:r>
          </a:p>
        </p:txBody>
      </p:sp>
      <p:sp>
        <p:nvSpPr>
          <p:cNvPr id="23" name="TextBox 22"/>
          <p:cNvSpPr txBox="1"/>
          <p:nvPr/>
        </p:nvSpPr>
        <p:spPr>
          <a:xfrm>
            <a:off x="5577840" y="3063240"/>
            <a:ext cx="1188720" cy="228600"/>
          </a:xfrm>
          <a:prstGeom prst="rect">
            <a:avLst/>
          </a:prstGeom>
          <a:noFill/>
        </p:spPr>
        <p:txBody>
          <a:bodyPr wrap="square" lIns="0" rIns="0">
            <a:spAutoFit/>
          </a:bodyPr>
          <a:lstStyle/>
          <a:p>
            <a:pPr algn="ctr">
              <a:defRPr sz="1000" b="1">
                <a:solidFill>
                  <a:srgbClr val="5C6878"/>
                </a:solidFill>
              </a:defRPr>
            </a:pPr>
            <a:r>
              <a:t>Median</a:t>
            </a:r>
          </a:p>
        </p:txBody>
      </p:sp>
      <p:sp>
        <p:nvSpPr>
          <p:cNvPr id="24" name="TextBox 23"/>
          <p:cNvSpPr txBox="1"/>
          <p:nvPr/>
        </p:nvSpPr>
        <p:spPr>
          <a:xfrm>
            <a:off x="5577840" y="3383280"/>
            <a:ext cx="1188720" cy="320040"/>
          </a:xfrm>
          <a:prstGeom prst="rect">
            <a:avLst/>
          </a:prstGeom>
          <a:noFill/>
        </p:spPr>
        <p:txBody>
          <a:bodyPr wrap="square" lIns="0" rIns="0">
            <a:spAutoFit/>
          </a:bodyPr>
          <a:lstStyle/>
          <a:p>
            <a:pPr algn="ctr">
              <a:defRPr sz="1300" b="1">
                <a:solidFill>
                  <a:srgbClr val="152238"/>
                </a:solidFill>
              </a:defRPr>
            </a:pPr>
            <a:r>
              <a:t>624</a:t>
            </a:r>
          </a:p>
        </p:txBody>
      </p:sp>
      <p:sp>
        <p:nvSpPr>
          <p:cNvPr id="25" name="TextBox 24"/>
          <p:cNvSpPr txBox="1"/>
          <p:nvPr/>
        </p:nvSpPr>
        <p:spPr>
          <a:xfrm>
            <a:off x="7178040" y="3063240"/>
            <a:ext cx="1188720" cy="228600"/>
          </a:xfrm>
          <a:prstGeom prst="rect">
            <a:avLst/>
          </a:prstGeom>
          <a:noFill/>
        </p:spPr>
        <p:txBody>
          <a:bodyPr wrap="square" lIns="0" rIns="0">
            <a:spAutoFit/>
          </a:bodyPr>
          <a:lstStyle/>
          <a:p>
            <a:pPr algn="ctr">
              <a:defRPr sz="1000" b="1">
                <a:solidFill>
                  <a:srgbClr val="5C6878"/>
                </a:solidFill>
              </a:defRPr>
            </a:pPr>
            <a:r>
              <a:t>Q3</a:t>
            </a:r>
          </a:p>
        </p:txBody>
      </p:sp>
      <p:sp>
        <p:nvSpPr>
          <p:cNvPr id="26" name="TextBox 25"/>
          <p:cNvSpPr txBox="1"/>
          <p:nvPr/>
        </p:nvSpPr>
        <p:spPr>
          <a:xfrm>
            <a:off x="7178040" y="3383280"/>
            <a:ext cx="1188720" cy="320040"/>
          </a:xfrm>
          <a:prstGeom prst="rect">
            <a:avLst/>
          </a:prstGeom>
          <a:noFill/>
        </p:spPr>
        <p:txBody>
          <a:bodyPr wrap="square" lIns="0" rIns="0">
            <a:spAutoFit/>
          </a:bodyPr>
          <a:lstStyle/>
          <a:p>
            <a:pPr algn="ctr">
              <a:defRPr sz="1300" b="1">
                <a:solidFill>
                  <a:srgbClr val="152238"/>
                </a:solidFill>
              </a:defRPr>
            </a:pPr>
            <a:r>
              <a:t>913</a:t>
            </a:r>
          </a:p>
        </p:txBody>
      </p:sp>
      <p:sp>
        <p:nvSpPr>
          <p:cNvPr id="27" name="TextBox 26"/>
          <p:cNvSpPr txBox="1"/>
          <p:nvPr/>
        </p:nvSpPr>
        <p:spPr>
          <a:xfrm>
            <a:off x="8778240" y="3063240"/>
            <a:ext cx="1188720" cy="228600"/>
          </a:xfrm>
          <a:prstGeom prst="rect">
            <a:avLst/>
          </a:prstGeom>
          <a:noFill/>
        </p:spPr>
        <p:txBody>
          <a:bodyPr wrap="square" lIns="0" rIns="0">
            <a:spAutoFit/>
          </a:bodyPr>
          <a:lstStyle/>
          <a:p>
            <a:pPr algn="ctr">
              <a:defRPr sz="1000" b="1">
                <a:solidFill>
                  <a:srgbClr val="5C6878"/>
                </a:solidFill>
              </a:defRPr>
            </a:pPr>
            <a:r>
              <a:t>P90</a:t>
            </a:r>
          </a:p>
        </p:txBody>
      </p:sp>
      <p:sp>
        <p:nvSpPr>
          <p:cNvPr id="28" name="TextBox 27"/>
          <p:cNvSpPr txBox="1"/>
          <p:nvPr/>
        </p:nvSpPr>
        <p:spPr>
          <a:xfrm>
            <a:off x="8778240" y="3383280"/>
            <a:ext cx="1188720" cy="320040"/>
          </a:xfrm>
          <a:prstGeom prst="rect">
            <a:avLst/>
          </a:prstGeom>
          <a:noFill/>
        </p:spPr>
        <p:txBody>
          <a:bodyPr wrap="square" lIns="0" rIns="0">
            <a:spAutoFit/>
          </a:bodyPr>
          <a:lstStyle/>
          <a:p>
            <a:pPr algn="ctr">
              <a:defRPr sz="1300" b="1">
                <a:solidFill>
                  <a:srgbClr val="152238"/>
                </a:solidFill>
              </a:defRPr>
            </a:pPr>
            <a:r>
              <a:t>1,085</a:t>
            </a:r>
          </a:p>
        </p:txBody>
      </p:sp>
      <p:sp>
        <p:nvSpPr>
          <p:cNvPr id="29" name="TextBox 28"/>
          <p:cNvSpPr txBox="1"/>
          <p:nvPr/>
        </p:nvSpPr>
        <p:spPr>
          <a:xfrm>
            <a:off x="10378440" y="3063240"/>
            <a:ext cx="1188720" cy="228600"/>
          </a:xfrm>
          <a:prstGeom prst="rect">
            <a:avLst/>
          </a:prstGeom>
          <a:noFill/>
        </p:spPr>
        <p:txBody>
          <a:bodyPr wrap="square" lIns="0" rIns="0">
            <a:spAutoFit/>
          </a:bodyPr>
          <a:lstStyle/>
          <a:p>
            <a:pPr algn="ctr">
              <a:defRPr sz="1000" b="1">
                <a:solidFill>
                  <a:srgbClr val="5C6878"/>
                </a:solidFill>
              </a:defRPr>
            </a:pPr>
            <a:r>
              <a:t>Max</a:t>
            </a:r>
          </a:p>
        </p:txBody>
      </p:sp>
      <p:sp>
        <p:nvSpPr>
          <p:cNvPr id="30" name="TextBox 29"/>
          <p:cNvSpPr txBox="1"/>
          <p:nvPr/>
        </p:nvSpPr>
        <p:spPr>
          <a:xfrm>
            <a:off x="10378440" y="3383280"/>
            <a:ext cx="1188720" cy="320040"/>
          </a:xfrm>
          <a:prstGeom prst="rect">
            <a:avLst/>
          </a:prstGeom>
          <a:noFill/>
        </p:spPr>
        <p:txBody>
          <a:bodyPr wrap="square" lIns="0" rIns="0">
            <a:spAutoFit/>
          </a:bodyPr>
          <a:lstStyle/>
          <a:p>
            <a:pPr algn="ctr">
              <a:defRPr sz="1300" b="1">
                <a:solidFill>
                  <a:srgbClr val="152238"/>
                </a:solidFill>
              </a:defRPr>
            </a:pPr>
            <a:r>
              <a:t>1,200</a:t>
            </a:r>
          </a:p>
        </p:txBody>
      </p:sp>
      <p:sp>
        <p:nvSpPr>
          <p:cNvPr id="31" name="TextBox 30"/>
          <p:cNvSpPr txBox="1"/>
          <p:nvPr/>
        </p:nvSpPr>
        <p:spPr>
          <a:xfrm>
            <a:off x="777240" y="4572000"/>
            <a:ext cx="10241280" cy="685800"/>
          </a:xfrm>
          <a:prstGeom prst="rect">
            <a:avLst/>
          </a:prstGeom>
          <a:noFill/>
        </p:spPr>
        <p:txBody>
          <a:bodyPr wrap="square" lIns="0" rIns="0">
            <a:spAutoFit/>
          </a:bodyPr>
          <a:lstStyle/>
          <a:p>
            <a:pPr algn="l">
              <a:defRPr sz="1500" b="0">
                <a:solidFill>
                  <a:srgbClr val="232830"/>
                </a:solidFill>
              </a:defRPr>
            </a:pPr>
            <a:r>
              <a:t>Key point: the median is the preferred central-value reference when the distribution is skewed by high-priced listings.</a:t>
            </a:r>
          </a:p>
        </p:txBody>
      </p:sp>
      <p:sp>
        <p:nvSpPr>
          <p:cNvPr id="33" name="TextBox 32"/>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9</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0040"/>
            <a:ext cx="4572000" cy="228600"/>
          </a:xfrm>
          <a:prstGeom prst="rect">
            <a:avLst/>
          </a:prstGeom>
          <a:noFill/>
        </p:spPr>
        <p:txBody>
          <a:bodyPr wrap="square" lIns="0" rIns="0">
            <a:spAutoFit/>
          </a:bodyPr>
          <a:lstStyle/>
          <a:p>
            <a:pPr algn="l">
              <a:defRPr sz="1000" b="1">
                <a:solidFill>
                  <a:srgbClr val="2B5EA6"/>
                </a:solidFill>
              </a:defRPr>
            </a:pPr>
            <a:r>
              <a:t>09</a:t>
            </a:r>
          </a:p>
        </p:txBody>
      </p:sp>
      <p:sp>
        <p:nvSpPr>
          <p:cNvPr id="4" name="TextBox 3"/>
          <p:cNvSpPr txBox="1"/>
          <p:nvPr/>
        </p:nvSpPr>
        <p:spPr>
          <a:xfrm>
            <a:off x="640080" y="594360"/>
            <a:ext cx="10972800" cy="548640"/>
          </a:xfrm>
          <a:prstGeom prst="rect">
            <a:avLst/>
          </a:prstGeom>
          <a:noFill/>
        </p:spPr>
        <p:txBody>
          <a:bodyPr wrap="square" lIns="0" rIns="0">
            <a:spAutoFit/>
          </a:bodyPr>
          <a:lstStyle/>
          <a:p>
            <a:pPr algn="l">
              <a:defRPr sz="2700" b="1">
                <a:solidFill>
                  <a:srgbClr val="152238"/>
                </a:solidFill>
              </a:defRPr>
            </a:pPr>
            <a:r>
              <a:t>Median Price by Room Type</a:t>
            </a:r>
          </a:p>
        </p:txBody>
      </p:sp>
      <p:sp>
        <p:nvSpPr>
          <p:cNvPr id="5" name="TextBox 4"/>
          <p:cNvSpPr txBox="1"/>
          <p:nvPr/>
        </p:nvSpPr>
        <p:spPr>
          <a:xfrm>
            <a:off x="777240" y="1325880"/>
            <a:ext cx="2286000" cy="274320"/>
          </a:xfrm>
          <a:prstGeom prst="rect">
            <a:avLst/>
          </a:prstGeom>
          <a:noFill/>
        </p:spPr>
        <p:txBody>
          <a:bodyPr wrap="square" lIns="0" rIns="0">
            <a:spAutoFit/>
          </a:bodyPr>
          <a:lstStyle/>
          <a:p>
            <a:pPr algn="l">
              <a:defRPr sz="1300" b="1">
                <a:solidFill>
                  <a:srgbClr val="232830"/>
                </a:solidFill>
              </a:defRPr>
            </a:pPr>
            <a:r>
              <a:t>Shared room</a:t>
            </a:r>
          </a:p>
        </p:txBody>
      </p:sp>
      <p:sp>
        <p:nvSpPr>
          <p:cNvPr id="6" name="Rectangle 5"/>
          <p:cNvSpPr/>
          <p:nvPr/>
        </p:nvSpPr>
        <p:spPr>
          <a:xfrm>
            <a:off x="3063240" y="1344168"/>
            <a:ext cx="6217920" cy="274320"/>
          </a:xfrm>
          <a:prstGeom prst="rect">
            <a:avLst/>
          </a:prstGeom>
          <a:solidFill>
            <a:srgbClr val="DCA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464040" y="1307592"/>
            <a:ext cx="1280160" cy="274320"/>
          </a:xfrm>
          <a:prstGeom prst="rect">
            <a:avLst/>
          </a:prstGeom>
          <a:noFill/>
        </p:spPr>
        <p:txBody>
          <a:bodyPr wrap="square" lIns="0" rIns="0">
            <a:spAutoFit/>
          </a:bodyPr>
          <a:lstStyle/>
          <a:p>
            <a:pPr algn="r">
              <a:defRPr sz="1200" b="1">
                <a:solidFill>
                  <a:srgbClr val="152238"/>
                </a:solidFill>
              </a:defRPr>
            </a:pPr>
            <a:r>
              <a:t>651.00</a:t>
            </a:r>
          </a:p>
        </p:txBody>
      </p:sp>
      <p:sp>
        <p:nvSpPr>
          <p:cNvPr id="8" name="TextBox 7"/>
          <p:cNvSpPr txBox="1"/>
          <p:nvPr/>
        </p:nvSpPr>
        <p:spPr>
          <a:xfrm>
            <a:off x="10835640" y="1307592"/>
            <a:ext cx="640080" cy="274320"/>
          </a:xfrm>
          <a:prstGeom prst="rect">
            <a:avLst/>
          </a:prstGeom>
          <a:noFill/>
        </p:spPr>
        <p:txBody>
          <a:bodyPr wrap="square" lIns="0" rIns="0">
            <a:spAutoFit/>
          </a:bodyPr>
          <a:lstStyle/>
          <a:p>
            <a:pPr algn="r">
              <a:defRPr sz="900" b="0">
                <a:solidFill>
                  <a:srgbClr val="5C6878"/>
                </a:solidFill>
              </a:defRPr>
            </a:pPr>
            <a:r>
              <a:t>n=2,218</a:t>
            </a:r>
          </a:p>
        </p:txBody>
      </p:sp>
      <p:sp>
        <p:nvSpPr>
          <p:cNvPr id="9" name="TextBox 8"/>
          <p:cNvSpPr txBox="1"/>
          <p:nvPr/>
        </p:nvSpPr>
        <p:spPr>
          <a:xfrm>
            <a:off x="777240" y="1947672"/>
            <a:ext cx="2286000" cy="274320"/>
          </a:xfrm>
          <a:prstGeom prst="rect">
            <a:avLst/>
          </a:prstGeom>
          <a:noFill/>
        </p:spPr>
        <p:txBody>
          <a:bodyPr wrap="square" lIns="0" rIns="0">
            <a:spAutoFit/>
          </a:bodyPr>
          <a:lstStyle/>
          <a:p>
            <a:pPr algn="l">
              <a:defRPr sz="1300" b="1">
                <a:solidFill>
                  <a:srgbClr val="232830"/>
                </a:solidFill>
              </a:defRPr>
            </a:pPr>
            <a:r>
              <a:t>Hotel room</a:t>
            </a:r>
          </a:p>
        </p:txBody>
      </p:sp>
      <p:sp>
        <p:nvSpPr>
          <p:cNvPr id="10" name="Rectangle 9"/>
          <p:cNvSpPr/>
          <p:nvPr/>
        </p:nvSpPr>
        <p:spPr>
          <a:xfrm>
            <a:off x="3063240" y="1965960"/>
            <a:ext cx="6155836" cy="274320"/>
          </a:xfrm>
          <a:prstGeom prst="rect">
            <a:avLst/>
          </a:prstGeom>
          <a:solidFill>
            <a:srgbClr val="DCA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64040" y="1929384"/>
            <a:ext cx="1280160" cy="274320"/>
          </a:xfrm>
          <a:prstGeom prst="rect">
            <a:avLst/>
          </a:prstGeom>
          <a:noFill/>
        </p:spPr>
        <p:txBody>
          <a:bodyPr wrap="square" lIns="0" rIns="0">
            <a:spAutoFit/>
          </a:bodyPr>
          <a:lstStyle/>
          <a:p>
            <a:pPr algn="r">
              <a:defRPr sz="1200" b="1">
                <a:solidFill>
                  <a:srgbClr val="152238"/>
                </a:solidFill>
              </a:defRPr>
            </a:pPr>
            <a:r>
              <a:t>644.50</a:t>
            </a:r>
          </a:p>
        </p:txBody>
      </p:sp>
      <p:sp>
        <p:nvSpPr>
          <p:cNvPr id="12" name="TextBox 11"/>
          <p:cNvSpPr txBox="1"/>
          <p:nvPr/>
        </p:nvSpPr>
        <p:spPr>
          <a:xfrm>
            <a:off x="10835640" y="1929384"/>
            <a:ext cx="640080" cy="274320"/>
          </a:xfrm>
          <a:prstGeom prst="rect">
            <a:avLst/>
          </a:prstGeom>
          <a:noFill/>
        </p:spPr>
        <p:txBody>
          <a:bodyPr wrap="square" lIns="0" rIns="0">
            <a:spAutoFit/>
          </a:bodyPr>
          <a:lstStyle/>
          <a:p>
            <a:pPr algn="r">
              <a:defRPr sz="900" b="0">
                <a:solidFill>
                  <a:srgbClr val="5C6878"/>
                </a:solidFill>
              </a:defRPr>
            </a:pPr>
            <a:r>
              <a:t>n=116</a:t>
            </a:r>
          </a:p>
        </p:txBody>
      </p:sp>
      <p:sp>
        <p:nvSpPr>
          <p:cNvPr id="13" name="TextBox 12"/>
          <p:cNvSpPr txBox="1"/>
          <p:nvPr/>
        </p:nvSpPr>
        <p:spPr>
          <a:xfrm>
            <a:off x="777240" y="2569464"/>
            <a:ext cx="2286000" cy="274320"/>
          </a:xfrm>
          <a:prstGeom prst="rect">
            <a:avLst/>
          </a:prstGeom>
          <a:noFill/>
        </p:spPr>
        <p:txBody>
          <a:bodyPr wrap="square" lIns="0" rIns="0">
            <a:spAutoFit/>
          </a:bodyPr>
          <a:lstStyle/>
          <a:p>
            <a:pPr algn="l">
              <a:defRPr sz="1300" b="1">
                <a:solidFill>
                  <a:srgbClr val="232830"/>
                </a:solidFill>
              </a:defRPr>
            </a:pPr>
            <a:r>
              <a:t>Entire home/apt</a:t>
            </a:r>
          </a:p>
        </p:txBody>
      </p:sp>
      <p:sp>
        <p:nvSpPr>
          <p:cNvPr id="14" name="Rectangle 13"/>
          <p:cNvSpPr/>
          <p:nvPr/>
        </p:nvSpPr>
        <p:spPr>
          <a:xfrm>
            <a:off x="3063240" y="2587752"/>
            <a:ext cx="5960033" cy="274320"/>
          </a:xfrm>
          <a:prstGeom prst="rect">
            <a:avLst/>
          </a:prstGeom>
          <a:solidFill>
            <a:srgbClr val="DCA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64040" y="2551176"/>
            <a:ext cx="1280160" cy="274320"/>
          </a:xfrm>
          <a:prstGeom prst="rect">
            <a:avLst/>
          </a:prstGeom>
          <a:noFill/>
        </p:spPr>
        <p:txBody>
          <a:bodyPr wrap="square" lIns="0" rIns="0">
            <a:spAutoFit/>
          </a:bodyPr>
          <a:lstStyle/>
          <a:p>
            <a:pPr algn="r">
              <a:defRPr sz="1200" b="1">
                <a:solidFill>
                  <a:srgbClr val="152238"/>
                </a:solidFill>
              </a:defRPr>
            </a:pPr>
            <a:r>
              <a:t>624.00</a:t>
            </a:r>
          </a:p>
        </p:txBody>
      </p:sp>
      <p:sp>
        <p:nvSpPr>
          <p:cNvPr id="16" name="TextBox 15"/>
          <p:cNvSpPr txBox="1"/>
          <p:nvPr/>
        </p:nvSpPr>
        <p:spPr>
          <a:xfrm>
            <a:off x="10835640" y="2551176"/>
            <a:ext cx="640080" cy="274320"/>
          </a:xfrm>
          <a:prstGeom prst="rect">
            <a:avLst/>
          </a:prstGeom>
          <a:noFill/>
        </p:spPr>
        <p:txBody>
          <a:bodyPr wrap="square" lIns="0" rIns="0">
            <a:spAutoFit/>
          </a:bodyPr>
          <a:lstStyle/>
          <a:p>
            <a:pPr algn="r">
              <a:defRPr sz="900" b="0">
                <a:solidFill>
                  <a:srgbClr val="5C6878"/>
                </a:solidFill>
              </a:defRPr>
            </a:pPr>
            <a:r>
              <a:t>n=53,568</a:t>
            </a:r>
          </a:p>
        </p:txBody>
      </p:sp>
      <p:sp>
        <p:nvSpPr>
          <p:cNvPr id="17" name="TextBox 16"/>
          <p:cNvSpPr txBox="1"/>
          <p:nvPr/>
        </p:nvSpPr>
        <p:spPr>
          <a:xfrm>
            <a:off x="777240" y="3191256"/>
            <a:ext cx="2286000" cy="274320"/>
          </a:xfrm>
          <a:prstGeom prst="rect">
            <a:avLst/>
          </a:prstGeom>
          <a:noFill/>
        </p:spPr>
        <p:txBody>
          <a:bodyPr wrap="square" lIns="0" rIns="0">
            <a:spAutoFit/>
          </a:bodyPr>
          <a:lstStyle/>
          <a:p>
            <a:pPr algn="l">
              <a:defRPr sz="1300" b="1">
                <a:solidFill>
                  <a:srgbClr val="232830"/>
                </a:solidFill>
              </a:defRPr>
            </a:pPr>
            <a:r>
              <a:t>Private room</a:t>
            </a:r>
          </a:p>
        </p:txBody>
      </p:sp>
      <p:sp>
        <p:nvSpPr>
          <p:cNvPr id="18" name="Rectangle 17"/>
          <p:cNvSpPr/>
          <p:nvPr/>
        </p:nvSpPr>
        <p:spPr>
          <a:xfrm>
            <a:off x="3063240" y="3209544"/>
            <a:ext cx="5950482" cy="274320"/>
          </a:xfrm>
          <a:prstGeom prst="rect">
            <a:avLst/>
          </a:prstGeom>
          <a:solidFill>
            <a:srgbClr val="DCA03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3172968"/>
            <a:ext cx="1280160" cy="274320"/>
          </a:xfrm>
          <a:prstGeom prst="rect">
            <a:avLst/>
          </a:prstGeom>
          <a:noFill/>
        </p:spPr>
        <p:txBody>
          <a:bodyPr wrap="square" lIns="0" rIns="0">
            <a:spAutoFit/>
          </a:bodyPr>
          <a:lstStyle/>
          <a:p>
            <a:pPr algn="r">
              <a:defRPr sz="1200" b="1">
                <a:solidFill>
                  <a:srgbClr val="152238"/>
                </a:solidFill>
              </a:defRPr>
            </a:pPr>
            <a:r>
              <a:t>623.00</a:t>
            </a:r>
          </a:p>
        </p:txBody>
      </p:sp>
      <p:sp>
        <p:nvSpPr>
          <p:cNvPr id="20" name="TextBox 19"/>
          <p:cNvSpPr txBox="1"/>
          <p:nvPr/>
        </p:nvSpPr>
        <p:spPr>
          <a:xfrm>
            <a:off x="10835640" y="3172968"/>
            <a:ext cx="640080" cy="274320"/>
          </a:xfrm>
          <a:prstGeom prst="rect">
            <a:avLst/>
          </a:prstGeom>
          <a:noFill/>
        </p:spPr>
        <p:txBody>
          <a:bodyPr wrap="square" lIns="0" rIns="0">
            <a:spAutoFit/>
          </a:bodyPr>
          <a:lstStyle/>
          <a:p>
            <a:pPr algn="r">
              <a:defRPr sz="900" b="0">
                <a:solidFill>
                  <a:srgbClr val="5C6878"/>
                </a:solidFill>
              </a:defRPr>
            </a:pPr>
            <a:r>
              <a:t>n=46,450</a:t>
            </a:r>
          </a:p>
        </p:txBody>
      </p:sp>
      <p:sp>
        <p:nvSpPr>
          <p:cNvPr id="21" name="TextBox 20"/>
          <p:cNvSpPr txBox="1"/>
          <p:nvPr/>
        </p:nvSpPr>
        <p:spPr>
          <a:xfrm>
            <a:off x="777240" y="5303520"/>
            <a:ext cx="10515600" cy="457200"/>
          </a:xfrm>
          <a:prstGeom prst="rect">
            <a:avLst/>
          </a:prstGeom>
          <a:noFill/>
        </p:spPr>
        <p:txBody>
          <a:bodyPr wrap="square" lIns="0" rIns="0">
            <a:spAutoFit/>
          </a:bodyPr>
          <a:lstStyle/>
          <a:p>
            <a:pPr algn="l">
              <a:defRPr sz="1300" b="0">
                <a:solidFill>
                  <a:srgbClr val="5C6878"/>
                </a:solidFill>
              </a:defRPr>
            </a:pPr>
            <a:r>
              <a:t>Comparison uses median positive price; n shows the number of valid listings contributing to each category.</a:t>
            </a:r>
          </a:p>
        </p:txBody>
      </p:sp>
      <p:sp>
        <p:nvSpPr>
          <p:cNvPr id="23" name="TextBox 22"/>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10</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0040"/>
            <a:ext cx="4572000" cy="228600"/>
          </a:xfrm>
          <a:prstGeom prst="rect">
            <a:avLst/>
          </a:prstGeom>
          <a:noFill/>
        </p:spPr>
        <p:txBody>
          <a:bodyPr wrap="square" lIns="0" rIns="0">
            <a:spAutoFit/>
          </a:bodyPr>
          <a:lstStyle/>
          <a:p>
            <a:pPr algn="l">
              <a:defRPr sz="1000" b="1">
                <a:solidFill>
                  <a:srgbClr val="2B5EA6"/>
                </a:solidFill>
              </a:defRPr>
            </a:pPr>
            <a:r>
              <a:t>10</a:t>
            </a:r>
          </a:p>
        </p:txBody>
      </p:sp>
      <p:sp>
        <p:nvSpPr>
          <p:cNvPr id="4" name="TextBox 3"/>
          <p:cNvSpPr txBox="1"/>
          <p:nvPr/>
        </p:nvSpPr>
        <p:spPr>
          <a:xfrm>
            <a:off x="640080" y="594360"/>
            <a:ext cx="10972800" cy="548640"/>
          </a:xfrm>
          <a:prstGeom prst="rect">
            <a:avLst/>
          </a:prstGeom>
          <a:noFill/>
        </p:spPr>
        <p:txBody>
          <a:bodyPr wrap="square" lIns="0" rIns="0">
            <a:spAutoFit/>
          </a:bodyPr>
          <a:lstStyle/>
          <a:p>
            <a:pPr algn="l">
              <a:defRPr sz="2700" b="1">
                <a:solidFill>
                  <a:srgbClr val="152238"/>
                </a:solidFill>
              </a:defRPr>
            </a:pPr>
            <a:r>
              <a:t>Median Price by Neighbourhood</a:t>
            </a:r>
          </a:p>
        </p:txBody>
      </p:sp>
      <p:sp>
        <p:nvSpPr>
          <p:cNvPr id="5" name="TextBox 4"/>
          <p:cNvSpPr txBox="1"/>
          <p:nvPr/>
        </p:nvSpPr>
        <p:spPr>
          <a:xfrm>
            <a:off x="777240" y="1170432"/>
            <a:ext cx="2743200" cy="274320"/>
          </a:xfrm>
          <a:prstGeom prst="rect">
            <a:avLst/>
          </a:prstGeom>
          <a:noFill/>
        </p:spPr>
        <p:txBody>
          <a:bodyPr wrap="square" lIns="0" rIns="0">
            <a:spAutoFit/>
          </a:bodyPr>
          <a:lstStyle/>
          <a:p>
            <a:pPr algn="l">
              <a:defRPr sz="1100" b="1">
                <a:solidFill>
                  <a:srgbClr val="232830"/>
                </a:solidFill>
              </a:defRPr>
            </a:pPr>
            <a:r>
              <a:t>Bronx</a:t>
            </a:r>
          </a:p>
        </p:txBody>
      </p:sp>
      <p:sp>
        <p:nvSpPr>
          <p:cNvPr id="6" name="Rectangle 5"/>
          <p:cNvSpPr/>
          <p:nvPr/>
        </p:nvSpPr>
        <p:spPr>
          <a:xfrm>
            <a:off x="3520440" y="1188720"/>
            <a:ext cx="5760720" cy="246888"/>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464040" y="1152144"/>
            <a:ext cx="1280160" cy="274320"/>
          </a:xfrm>
          <a:prstGeom prst="rect">
            <a:avLst/>
          </a:prstGeom>
          <a:noFill/>
        </p:spPr>
        <p:txBody>
          <a:bodyPr wrap="square" lIns="0" rIns="0">
            <a:spAutoFit/>
          </a:bodyPr>
          <a:lstStyle/>
          <a:p>
            <a:pPr algn="r">
              <a:defRPr sz="1100" b="1">
                <a:solidFill>
                  <a:srgbClr val="152238"/>
                </a:solidFill>
              </a:defRPr>
            </a:pPr>
            <a:r>
              <a:t>633.00</a:t>
            </a:r>
          </a:p>
        </p:txBody>
      </p:sp>
      <p:sp>
        <p:nvSpPr>
          <p:cNvPr id="8" name="TextBox 7"/>
          <p:cNvSpPr txBox="1"/>
          <p:nvPr/>
        </p:nvSpPr>
        <p:spPr>
          <a:xfrm>
            <a:off x="10835640" y="1152144"/>
            <a:ext cx="640080" cy="274320"/>
          </a:xfrm>
          <a:prstGeom prst="rect">
            <a:avLst/>
          </a:prstGeom>
          <a:noFill/>
        </p:spPr>
        <p:txBody>
          <a:bodyPr wrap="square" lIns="0" rIns="0">
            <a:spAutoFit/>
          </a:bodyPr>
          <a:lstStyle/>
          <a:p>
            <a:pPr algn="r">
              <a:defRPr sz="900" b="0">
                <a:solidFill>
                  <a:srgbClr val="5C6878"/>
                </a:solidFill>
              </a:defRPr>
            </a:pPr>
            <a:r>
              <a:t>n=2,705</a:t>
            </a:r>
          </a:p>
        </p:txBody>
      </p:sp>
      <p:sp>
        <p:nvSpPr>
          <p:cNvPr id="9" name="TextBox 8"/>
          <p:cNvSpPr txBox="1"/>
          <p:nvPr/>
        </p:nvSpPr>
        <p:spPr>
          <a:xfrm>
            <a:off x="777240" y="1691640"/>
            <a:ext cx="2743200" cy="274320"/>
          </a:xfrm>
          <a:prstGeom prst="rect">
            <a:avLst/>
          </a:prstGeom>
          <a:noFill/>
        </p:spPr>
        <p:txBody>
          <a:bodyPr wrap="square" lIns="0" rIns="0">
            <a:spAutoFit/>
          </a:bodyPr>
          <a:lstStyle/>
          <a:p>
            <a:pPr algn="l">
              <a:defRPr sz="1100" b="1">
                <a:solidFill>
                  <a:srgbClr val="232830"/>
                </a:solidFill>
              </a:defRPr>
            </a:pPr>
            <a:r>
              <a:t>Staten Island</a:t>
            </a:r>
          </a:p>
        </p:txBody>
      </p:sp>
      <p:sp>
        <p:nvSpPr>
          <p:cNvPr id="10" name="Rectangle 9"/>
          <p:cNvSpPr/>
          <p:nvPr/>
        </p:nvSpPr>
        <p:spPr>
          <a:xfrm>
            <a:off x="3520440" y="1709928"/>
            <a:ext cx="5715216" cy="246888"/>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464040" y="1673352"/>
            <a:ext cx="1280160" cy="274320"/>
          </a:xfrm>
          <a:prstGeom prst="rect">
            <a:avLst/>
          </a:prstGeom>
          <a:noFill/>
        </p:spPr>
        <p:txBody>
          <a:bodyPr wrap="square" lIns="0" rIns="0">
            <a:spAutoFit/>
          </a:bodyPr>
          <a:lstStyle/>
          <a:p>
            <a:pPr algn="r">
              <a:defRPr sz="1100" b="1">
                <a:solidFill>
                  <a:srgbClr val="152238"/>
                </a:solidFill>
              </a:defRPr>
            </a:pPr>
            <a:r>
              <a:t>628.00</a:t>
            </a:r>
          </a:p>
        </p:txBody>
      </p:sp>
      <p:sp>
        <p:nvSpPr>
          <p:cNvPr id="12" name="TextBox 11"/>
          <p:cNvSpPr txBox="1"/>
          <p:nvPr/>
        </p:nvSpPr>
        <p:spPr>
          <a:xfrm>
            <a:off x="10835640" y="1673352"/>
            <a:ext cx="640080" cy="274320"/>
          </a:xfrm>
          <a:prstGeom prst="rect">
            <a:avLst/>
          </a:prstGeom>
          <a:noFill/>
        </p:spPr>
        <p:txBody>
          <a:bodyPr wrap="square" lIns="0" rIns="0">
            <a:spAutoFit/>
          </a:bodyPr>
          <a:lstStyle/>
          <a:p>
            <a:pPr algn="r">
              <a:defRPr sz="900" b="0">
                <a:solidFill>
                  <a:srgbClr val="5C6878"/>
                </a:solidFill>
              </a:defRPr>
            </a:pPr>
            <a:r>
              <a:t>n=952</a:t>
            </a:r>
          </a:p>
        </p:txBody>
      </p:sp>
      <p:sp>
        <p:nvSpPr>
          <p:cNvPr id="13" name="TextBox 12"/>
          <p:cNvSpPr txBox="1"/>
          <p:nvPr/>
        </p:nvSpPr>
        <p:spPr>
          <a:xfrm>
            <a:off x="777240" y="2212848"/>
            <a:ext cx="2743200" cy="274320"/>
          </a:xfrm>
          <a:prstGeom prst="rect">
            <a:avLst/>
          </a:prstGeom>
          <a:noFill/>
        </p:spPr>
        <p:txBody>
          <a:bodyPr wrap="square" lIns="0" rIns="0">
            <a:spAutoFit/>
          </a:bodyPr>
          <a:lstStyle/>
          <a:p>
            <a:pPr algn="l">
              <a:defRPr sz="1100" b="1">
                <a:solidFill>
                  <a:srgbClr val="232830"/>
                </a:solidFill>
              </a:defRPr>
            </a:pPr>
            <a:r>
              <a:t>Queens</a:t>
            </a:r>
          </a:p>
        </p:txBody>
      </p:sp>
      <p:sp>
        <p:nvSpPr>
          <p:cNvPr id="14" name="Rectangle 13"/>
          <p:cNvSpPr/>
          <p:nvPr/>
        </p:nvSpPr>
        <p:spPr>
          <a:xfrm>
            <a:off x="3520440" y="2231136"/>
            <a:ext cx="5715216" cy="246888"/>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464040" y="2194560"/>
            <a:ext cx="1280160" cy="274320"/>
          </a:xfrm>
          <a:prstGeom prst="rect">
            <a:avLst/>
          </a:prstGeom>
          <a:noFill/>
        </p:spPr>
        <p:txBody>
          <a:bodyPr wrap="square" lIns="0" rIns="0">
            <a:spAutoFit/>
          </a:bodyPr>
          <a:lstStyle/>
          <a:p>
            <a:pPr algn="r">
              <a:defRPr sz="1100" b="1">
                <a:solidFill>
                  <a:srgbClr val="152238"/>
                </a:solidFill>
              </a:defRPr>
            </a:pPr>
            <a:r>
              <a:t>628.00</a:t>
            </a:r>
          </a:p>
        </p:txBody>
      </p:sp>
      <p:sp>
        <p:nvSpPr>
          <p:cNvPr id="16" name="TextBox 15"/>
          <p:cNvSpPr txBox="1"/>
          <p:nvPr/>
        </p:nvSpPr>
        <p:spPr>
          <a:xfrm>
            <a:off x="10835640" y="2194560"/>
            <a:ext cx="640080" cy="274320"/>
          </a:xfrm>
          <a:prstGeom prst="rect">
            <a:avLst/>
          </a:prstGeom>
          <a:noFill/>
        </p:spPr>
        <p:txBody>
          <a:bodyPr wrap="square" lIns="0" rIns="0">
            <a:spAutoFit/>
          </a:bodyPr>
          <a:lstStyle/>
          <a:p>
            <a:pPr algn="r">
              <a:defRPr sz="900" b="0">
                <a:solidFill>
                  <a:srgbClr val="5C6878"/>
                </a:solidFill>
              </a:defRPr>
            </a:pPr>
            <a:r>
              <a:t>n=13,234</a:t>
            </a:r>
          </a:p>
        </p:txBody>
      </p:sp>
      <p:sp>
        <p:nvSpPr>
          <p:cNvPr id="17" name="TextBox 16"/>
          <p:cNvSpPr txBox="1"/>
          <p:nvPr/>
        </p:nvSpPr>
        <p:spPr>
          <a:xfrm>
            <a:off x="777240" y="2734056"/>
            <a:ext cx="2743200" cy="274320"/>
          </a:xfrm>
          <a:prstGeom prst="rect">
            <a:avLst/>
          </a:prstGeom>
          <a:noFill/>
        </p:spPr>
        <p:txBody>
          <a:bodyPr wrap="square" lIns="0" rIns="0">
            <a:spAutoFit/>
          </a:bodyPr>
          <a:lstStyle/>
          <a:p>
            <a:pPr algn="l">
              <a:defRPr sz="1100" b="1">
                <a:solidFill>
                  <a:srgbClr val="232830"/>
                </a:solidFill>
              </a:defRPr>
            </a:pPr>
            <a:r>
              <a:t>Brooklyn</a:t>
            </a:r>
          </a:p>
        </p:txBody>
      </p:sp>
      <p:sp>
        <p:nvSpPr>
          <p:cNvPr id="18" name="Rectangle 17"/>
          <p:cNvSpPr/>
          <p:nvPr/>
        </p:nvSpPr>
        <p:spPr>
          <a:xfrm>
            <a:off x="3520440" y="2752344"/>
            <a:ext cx="5697015" cy="246888"/>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64040" y="2715768"/>
            <a:ext cx="1280160" cy="274320"/>
          </a:xfrm>
          <a:prstGeom prst="rect">
            <a:avLst/>
          </a:prstGeom>
          <a:noFill/>
        </p:spPr>
        <p:txBody>
          <a:bodyPr wrap="square" lIns="0" rIns="0">
            <a:spAutoFit/>
          </a:bodyPr>
          <a:lstStyle/>
          <a:p>
            <a:pPr algn="r">
              <a:defRPr sz="1100" b="1">
                <a:solidFill>
                  <a:srgbClr val="152238"/>
                </a:solidFill>
              </a:defRPr>
            </a:pPr>
            <a:r>
              <a:t>626.00</a:t>
            </a:r>
          </a:p>
        </p:txBody>
      </p:sp>
      <p:sp>
        <p:nvSpPr>
          <p:cNvPr id="20" name="TextBox 19"/>
          <p:cNvSpPr txBox="1"/>
          <p:nvPr/>
        </p:nvSpPr>
        <p:spPr>
          <a:xfrm>
            <a:off x="10835640" y="2715768"/>
            <a:ext cx="640080" cy="274320"/>
          </a:xfrm>
          <a:prstGeom prst="rect">
            <a:avLst/>
          </a:prstGeom>
          <a:noFill/>
        </p:spPr>
        <p:txBody>
          <a:bodyPr wrap="square" lIns="0" rIns="0">
            <a:spAutoFit/>
          </a:bodyPr>
          <a:lstStyle/>
          <a:p>
            <a:pPr algn="r">
              <a:defRPr sz="900" b="0">
                <a:solidFill>
                  <a:srgbClr val="5C6878"/>
                </a:solidFill>
              </a:defRPr>
            </a:pPr>
            <a:r>
              <a:t>n=41,749</a:t>
            </a:r>
          </a:p>
        </p:txBody>
      </p:sp>
      <p:sp>
        <p:nvSpPr>
          <p:cNvPr id="21" name="TextBox 20"/>
          <p:cNvSpPr txBox="1"/>
          <p:nvPr/>
        </p:nvSpPr>
        <p:spPr>
          <a:xfrm>
            <a:off x="777240" y="3255263"/>
            <a:ext cx="2743200" cy="274320"/>
          </a:xfrm>
          <a:prstGeom prst="rect">
            <a:avLst/>
          </a:prstGeom>
          <a:noFill/>
        </p:spPr>
        <p:txBody>
          <a:bodyPr wrap="square" lIns="0" rIns="0">
            <a:spAutoFit/>
          </a:bodyPr>
          <a:lstStyle/>
          <a:p>
            <a:pPr algn="l">
              <a:defRPr sz="1100" b="1">
                <a:solidFill>
                  <a:srgbClr val="232830"/>
                </a:solidFill>
              </a:defRPr>
            </a:pPr>
            <a:r>
              <a:t>Manhattan</a:t>
            </a:r>
          </a:p>
        </p:txBody>
      </p:sp>
      <p:sp>
        <p:nvSpPr>
          <p:cNvPr id="22" name="Rectangle 21"/>
          <p:cNvSpPr/>
          <p:nvPr/>
        </p:nvSpPr>
        <p:spPr>
          <a:xfrm>
            <a:off x="3520440" y="3273551"/>
            <a:ext cx="5651512" cy="246888"/>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464040" y="3236975"/>
            <a:ext cx="1280160" cy="274320"/>
          </a:xfrm>
          <a:prstGeom prst="rect">
            <a:avLst/>
          </a:prstGeom>
          <a:noFill/>
        </p:spPr>
        <p:txBody>
          <a:bodyPr wrap="square" lIns="0" rIns="0">
            <a:spAutoFit/>
          </a:bodyPr>
          <a:lstStyle/>
          <a:p>
            <a:pPr algn="r">
              <a:defRPr sz="1100" b="1">
                <a:solidFill>
                  <a:srgbClr val="152238"/>
                </a:solidFill>
              </a:defRPr>
            </a:pPr>
            <a:r>
              <a:t>621.00</a:t>
            </a:r>
          </a:p>
        </p:txBody>
      </p:sp>
      <p:sp>
        <p:nvSpPr>
          <p:cNvPr id="24" name="TextBox 23"/>
          <p:cNvSpPr txBox="1"/>
          <p:nvPr/>
        </p:nvSpPr>
        <p:spPr>
          <a:xfrm>
            <a:off x="10835640" y="3236975"/>
            <a:ext cx="640080" cy="274320"/>
          </a:xfrm>
          <a:prstGeom prst="rect">
            <a:avLst/>
          </a:prstGeom>
          <a:noFill/>
        </p:spPr>
        <p:txBody>
          <a:bodyPr wrap="square" lIns="0" rIns="0">
            <a:spAutoFit/>
          </a:bodyPr>
          <a:lstStyle/>
          <a:p>
            <a:pPr algn="r">
              <a:defRPr sz="900" b="0">
                <a:solidFill>
                  <a:srgbClr val="5C6878"/>
                </a:solidFill>
              </a:defRPr>
            </a:pPr>
            <a:r>
              <a:t>n=43,682</a:t>
            </a:r>
          </a:p>
        </p:txBody>
      </p:sp>
      <p:sp>
        <p:nvSpPr>
          <p:cNvPr id="25" name="TextBox 24"/>
          <p:cNvSpPr txBox="1"/>
          <p:nvPr/>
        </p:nvSpPr>
        <p:spPr>
          <a:xfrm>
            <a:off x="777240" y="3776472"/>
            <a:ext cx="2743200" cy="274320"/>
          </a:xfrm>
          <a:prstGeom prst="rect">
            <a:avLst/>
          </a:prstGeom>
          <a:noFill/>
        </p:spPr>
        <p:txBody>
          <a:bodyPr wrap="square" lIns="0" rIns="0">
            <a:spAutoFit/>
          </a:bodyPr>
          <a:lstStyle/>
          <a:p>
            <a:pPr algn="l">
              <a:defRPr sz="1100" b="1">
                <a:solidFill>
                  <a:srgbClr val="232830"/>
                </a:solidFill>
              </a:defRPr>
            </a:pPr>
            <a:r>
              <a:t>brookln</a:t>
            </a:r>
          </a:p>
        </p:txBody>
      </p:sp>
      <p:sp>
        <p:nvSpPr>
          <p:cNvPr id="26" name="Rectangle 25"/>
          <p:cNvSpPr/>
          <p:nvPr/>
        </p:nvSpPr>
        <p:spPr>
          <a:xfrm>
            <a:off x="3520440" y="3794759"/>
            <a:ext cx="5278384" cy="246888"/>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464040" y="3758184"/>
            <a:ext cx="1280160" cy="274320"/>
          </a:xfrm>
          <a:prstGeom prst="rect">
            <a:avLst/>
          </a:prstGeom>
          <a:noFill/>
        </p:spPr>
        <p:txBody>
          <a:bodyPr wrap="square" lIns="0" rIns="0">
            <a:spAutoFit/>
          </a:bodyPr>
          <a:lstStyle/>
          <a:p>
            <a:pPr algn="r">
              <a:defRPr sz="1100" b="1">
                <a:solidFill>
                  <a:srgbClr val="152238"/>
                </a:solidFill>
              </a:defRPr>
            </a:pPr>
            <a:r>
              <a:t>580.00</a:t>
            </a:r>
          </a:p>
        </p:txBody>
      </p:sp>
      <p:sp>
        <p:nvSpPr>
          <p:cNvPr id="28" name="TextBox 27"/>
          <p:cNvSpPr txBox="1"/>
          <p:nvPr/>
        </p:nvSpPr>
        <p:spPr>
          <a:xfrm>
            <a:off x="10835640" y="3758184"/>
            <a:ext cx="640080" cy="274320"/>
          </a:xfrm>
          <a:prstGeom prst="rect">
            <a:avLst/>
          </a:prstGeom>
          <a:noFill/>
        </p:spPr>
        <p:txBody>
          <a:bodyPr wrap="square" lIns="0" rIns="0">
            <a:spAutoFit/>
          </a:bodyPr>
          <a:lstStyle/>
          <a:p>
            <a:pPr algn="r">
              <a:defRPr sz="900" b="0">
                <a:solidFill>
                  <a:srgbClr val="5C6878"/>
                </a:solidFill>
              </a:defRPr>
            </a:pPr>
            <a:r>
              <a:t>n=1</a:t>
            </a:r>
          </a:p>
        </p:txBody>
      </p:sp>
      <p:sp>
        <p:nvSpPr>
          <p:cNvPr id="29" name="TextBox 28"/>
          <p:cNvSpPr txBox="1"/>
          <p:nvPr/>
        </p:nvSpPr>
        <p:spPr>
          <a:xfrm>
            <a:off x="777240" y="4297680"/>
            <a:ext cx="2743200" cy="274320"/>
          </a:xfrm>
          <a:prstGeom prst="rect">
            <a:avLst/>
          </a:prstGeom>
          <a:noFill/>
        </p:spPr>
        <p:txBody>
          <a:bodyPr wrap="square" lIns="0" rIns="0">
            <a:spAutoFit/>
          </a:bodyPr>
          <a:lstStyle/>
          <a:p>
            <a:pPr algn="l">
              <a:defRPr sz="1100" b="1">
                <a:solidFill>
                  <a:srgbClr val="232830"/>
                </a:solidFill>
              </a:defRPr>
            </a:pPr>
            <a:r>
              <a:t>manhatan</a:t>
            </a:r>
          </a:p>
        </p:txBody>
      </p:sp>
      <p:sp>
        <p:nvSpPr>
          <p:cNvPr id="30" name="Rectangle 29"/>
          <p:cNvSpPr/>
          <p:nvPr/>
        </p:nvSpPr>
        <p:spPr>
          <a:xfrm>
            <a:off x="3520440" y="4315968"/>
            <a:ext cx="4186305" cy="246888"/>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464040" y="4279392"/>
            <a:ext cx="1280160" cy="274320"/>
          </a:xfrm>
          <a:prstGeom prst="rect">
            <a:avLst/>
          </a:prstGeom>
          <a:noFill/>
        </p:spPr>
        <p:txBody>
          <a:bodyPr wrap="square" lIns="0" rIns="0">
            <a:spAutoFit/>
          </a:bodyPr>
          <a:lstStyle/>
          <a:p>
            <a:pPr algn="r">
              <a:defRPr sz="1100" b="1">
                <a:solidFill>
                  <a:srgbClr val="152238"/>
                </a:solidFill>
              </a:defRPr>
            </a:pPr>
            <a:r>
              <a:t>460.00</a:t>
            </a:r>
          </a:p>
        </p:txBody>
      </p:sp>
      <p:sp>
        <p:nvSpPr>
          <p:cNvPr id="32" name="TextBox 31"/>
          <p:cNvSpPr txBox="1"/>
          <p:nvPr/>
        </p:nvSpPr>
        <p:spPr>
          <a:xfrm>
            <a:off x="10835640" y="4279392"/>
            <a:ext cx="640080" cy="274320"/>
          </a:xfrm>
          <a:prstGeom prst="rect">
            <a:avLst/>
          </a:prstGeom>
          <a:noFill/>
        </p:spPr>
        <p:txBody>
          <a:bodyPr wrap="square" lIns="0" rIns="0">
            <a:spAutoFit/>
          </a:bodyPr>
          <a:lstStyle/>
          <a:p>
            <a:pPr algn="r">
              <a:defRPr sz="900" b="0">
                <a:solidFill>
                  <a:srgbClr val="5C6878"/>
                </a:solidFill>
              </a:defRPr>
            </a:pPr>
            <a:r>
              <a:t>n=1</a:t>
            </a:r>
          </a:p>
        </p:txBody>
      </p:sp>
      <p:sp>
        <p:nvSpPr>
          <p:cNvPr id="33" name="TextBox 32"/>
          <p:cNvSpPr txBox="1"/>
          <p:nvPr/>
        </p:nvSpPr>
        <p:spPr>
          <a:xfrm>
            <a:off x="777240" y="5486400"/>
            <a:ext cx="10515600" cy="411480"/>
          </a:xfrm>
          <a:prstGeom prst="rect">
            <a:avLst/>
          </a:prstGeom>
          <a:noFill/>
        </p:spPr>
        <p:txBody>
          <a:bodyPr wrap="square" lIns="0" rIns="0">
            <a:spAutoFit/>
          </a:bodyPr>
          <a:lstStyle/>
          <a:p>
            <a:pPr algn="l">
              <a:defRPr sz="1300" b="0">
                <a:solidFill>
                  <a:srgbClr val="5C6878"/>
                </a:solidFill>
              </a:defRPr>
            </a:pPr>
            <a:r>
              <a:t>Neighbourhood medians show how typical listing prices differ by location; sample size remains important.</a:t>
            </a:r>
          </a:p>
        </p:txBody>
      </p:sp>
      <p:sp>
        <p:nvSpPr>
          <p:cNvPr id="35" name="TextBox 34"/>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11</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640080" y="594360"/>
            <a:ext cx="10972800" cy="548640"/>
          </a:xfrm>
          <a:prstGeom prst="rect">
            <a:avLst/>
          </a:prstGeom>
          <a:noFill/>
        </p:spPr>
        <p:txBody>
          <a:bodyPr wrap="square" lIns="0" rIns="0">
            <a:spAutoFit/>
          </a:bodyPr>
          <a:lstStyle/>
          <a:p>
            <a:pPr algn="l">
              <a:defRPr sz="2700" b="1">
                <a:solidFill>
                  <a:srgbClr val="152238"/>
                </a:solidFill>
              </a:defRPr>
            </a:pPr>
            <a:r>
              <a:t>Reviews &amp; Availability</a:t>
            </a:r>
          </a:p>
        </p:txBody>
      </p:sp>
      <p:sp>
        <p:nvSpPr>
          <p:cNvPr id="5" name="TextBox 4"/>
          <p:cNvSpPr txBox="1"/>
          <p:nvPr/>
        </p:nvSpPr>
        <p:spPr>
          <a:xfrm>
            <a:off x="777240" y="1417320"/>
            <a:ext cx="10515600" cy="4480560"/>
          </a:xfrm>
          <a:prstGeom prst="rect">
            <a:avLst/>
          </a:prstGeom>
          <a:noFill/>
        </p:spPr>
        <p:txBody>
          <a:bodyPr wrap="square" lIns="27432">
            <a:spAutoFit/>
          </a:bodyPr>
          <a:lstStyle/>
          <a:p>
            <a:pPr>
              <a:spcAft>
                <a:spcPts val="1200"/>
              </a:spcAft>
              <a:defRPr sz="1700">
                <a:solidFill>
                  <a:srgbClr val="232830"/>
                </a:solidFill>
              </a:defRPr>
            </a:pPr>
            <a:r>
              <a:t>• Number of reviews — median: 7; mean: 27.5.</a:t>
            </a:r>
          </a:p>
          <a:p>
            <a:pPr>
              <a:spcAft>
                <a:spcPts val="1200"/>
              </a:spcAft>
              <a:defRPr sz="1700">
                <a:solidFill>
                  <a:srgbClr val="232830"/>
                </a:solidFill>
              </a:defRPr>
            </a:pPr>
            <a:r>
              <a:t>• Availability (availability 365) — median: 96 days; mean: 141.1 days.</a:t>
            </a:r>
          </a:p>
          <a:p>
            <a:pPr>
              <a:spcAft>
                <a:spcPts val="1200"/>
              </a:spcAft>
              <a:defRPr sz="1700">
                <a:solidFill>
                  <a:srgbClr val="232830"/>
                </a:solidFill>
              </a:defRPr>
            </a:pPr>
            <a:r>
              <a:t>• Review-related metric (number of reviews) — median: 7.00; mean: 27.48.</a:t>
            </a:r>
          </a:p>
          <a:p>
            <a:pPr>
              <a:spcAft>
                <a:spcPts val="1200"/>
              </a:spcAft>
              <a:defRPr sz="1700">
                <a:solidFill>
                  <a:srgbClr val="232830"/>
                </a:solidFill>
              </a:defRPr>
            </a:pPr>
            <a:r>
              <a:t>• These variables describe listing engagement/visibility and booking availability; they are descriptive indicators, not direct measures of revenue.</a:t>
            </a:r>
          </a:p>
        </p:txBody>
      </p:sp>
      <p:sp>
        <p:nvSpPr>
          <p:cNvPr id="7" name="TextBox 6"/>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12</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0040"/>
            <a:ext cx="4572000" cy="228600"/>
          </a:xfrm>
          <a:prstGeom prst="rect">
            <a:avLst/>
          </a:prstGeom>
          <a:noFill/>
        </p:spPr>
        <p:txBody>
          <a:bodyPr wrap="square" lIns="0" rIns="0">
            <a:spAutoFit/>
          </a:bodyPr>
          <a:lstStyle/>
          <a:p>
            <a:pPr algn="l">
              <a:defRPr sz="1000" b="1">
                <a:solidFill>
                  <a:srgbClr val="2B5EA6"/>
                </a:solidFill>
              </a:defRPr>
            </a:pPr>
            <a:r>
              <a:t>12</a:t>
            </a:r>
          </a:p>
        </p:txBody>
      </p:sp>
      <p:sp>
        <p:nvSpPr>
          <p:cNvPr id="4" name="TextBox 3"/>
          <p:cNvSpPr txBox="1"/>
          <p:nvPr/>
        </p:nvSpPr>
        <p:spPr>
          <a:xfrm>
            <a:off x="640080" y="594360"/>
            <a:ext cx="10972800" cy="548640"/>
          </a:xfrm>
          <a:prstGeom prst="rect">
            <a:avLst/>
          </a:prstGeom>
          <a:noFill/>
        </p:spPr>
        <p:txBody>
          <a:bodyPr wrap="square" lIns="0" rIns="0">
            <a:spAutoFit/>
          </a:bodyPr>
          <a:lstStyle/>
          <a:p>
            <a:pPr algn="l">
              <a:defRPr sz="2700" b="1">
                <a:solidFill>
                  <a:srgbClr val="152238"/>
                </a:solidFill>
              </a:defRPr>
            </a:pPr>
            <a:r>
              <a:t>EDA Questions Addressed</a:t>
            </a:r>
          </a:p>
        </p:txBody>
      </p:sp>
      <p:sp>
        <p:nvSpPr>
          <p:cNvPr id="5" name="TextBox 4"/>
          <p:cNvSpPr txBox="1"/>
          <p:nvPr/>
        </p:nvSpPr>
        <p:spPr>
          <a:xfrm>
            <a:off x="777240" y="1417320"/>
            <a:ext cx="10515600" cy="4480560"/>
          </a:xfrm>
          <a:prstGeom prst="rect">
            <a:avLst/>
          </a:prstGeom>
          <a:noFill/>
        </p:spPr>
        <p:txBody>
          <a:bodyPr wrap="square" lIns="27432">
            <a:spAutoFit/>
          </a:bodyPr>
          <a:lstStyle/>
          <a:p>
            <a:pPr>
              <a:spcAft>
                <a:spcPts val="1200"/>
              </a:spcAft>
              <a:defRPr sz="1700">
                <a:solidFill>
                  <a:srgbClr val="232830"/>
                </a:solidFill>
              </a:defRPr>
            </a:pPr>
            <a:r>
              <a:t>• Which room types account for the largest share of listings?</a:t>
            </a:r>
          </a:p>
          <a:p>
            <a:pPr>
              <a:spcAft>
                <a:spcPts val="1200"/>
              </a:spcAft>
              <a:defRPr sz="1700">
                <a:solidFill>
                  <a:srgbClr val="232830"/>
                </a:solidFill>
              </a:defRPr>
            </a:pPr>
            <a:r>
              <a:t>• Which neighbourhood categories contain the most listings?</a:t>
            </a:r>
          </a:p>
          <a:p>
            <a:pPr>
              <a:spcAft>
                <a:spcPts val="1200"/>
              </a:spcAft>
              <a:defRPr sz="1700">
                <a:solidFill>
                  <a:srgbClr val="232830"/>
                </a:solidFill>
              </a:defRPr>
            </a:pPr>
            <a:r>
              <a:t>• What is the typical Airbnb listing price?</a:t>
            </a:r>
          </a:p>
          <a:p>
            <a:pPr>
              <a:spcAft>
                <a:spcPts val="1200"/>
              </a:spcAft>
              <a:defRPr sz="1700">
                <a:solidFill>
                  <a:srgbClr val="232830"/>
                </a:solidFill>
              </a:defRPr>
            </a:pPr>
            <a:r>
              <a:t>• How does median price differ by room type?</a:t>
            </a:r>
          </a:p>
          <a:p>
            <a:pPr>
              <a:spcAft>
                <a:spcPts val="1200"/>
              </a:spcAft>
              <a:defRPr sz="1700">
                <a:solidFill>
                  <a:srgbClr val="232830"/>
                </a:solidFill>
              </a:defRPr>
            </a:pPr>
            <a:r>
              <a:t>• How does median price differ by neighbourhood?</a:t>
            </a:r>
          </a:p>
          <a:p>
            <a:pPr>
              <a:spcAft>
                <a:spcPts val="1200"/>
              </a:spcAft>
              <a:defRPr sz="1700">
                <a:solidFill>
                  <a:srgbClr val="232830"/>
                </a:solidFill>
              </a:defRPr>
            </a:pPr>
            <a:r>
              <a:t>• How much variation exists in review activity and availability?</a:t>
            </a:r>
          </a:p>
          <a:p>
            <a:pPr>
              <a:spcAft>
                <a:spcPts val="1200"/>
              </a:spcAft>
              <a:defRPr sz="1700">
                <a:solidFill>
                  <a:srgbClr val="232830"/>
                </a:solidFill>
              </a:defRPr>
            </a:pPr>
            <a:r>
              <a:t>• What data-quality issues must be considered before interpreting the results?</a:t>
            </a:r>
          </a:p>
        </p:txBody>
      </p:sp>
      <p:sp>
        <p:nvSpPr>
          <p:cNvPr id="7" name="TextBox 6"/>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13</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0040"/>
            <a:ext cx="4572000" cy="228600"/>
          </a:xfrm>
          <a:prstGeom prst="rect">
            <a:avLst/>
          </a:prstGeom>
          <a:noFill/>
        </p:spPr>
        <p:txBody>
          <a:bodyPr wrap="square" lIns="0" rIns="0">
            <a:spAutoFit/>
          </a:bodyPr>
          <a:lstStyle/>
          <a:p>
            <a:pPr algn="l">
              <a:defRPr sz="1000" b="1">
                <a:solidFill>
                  <a:srgbClr val="2B5EA6"/>
                </a:solidFill>
              </a:defRPr>
            </a:pPr>
            <a:r>
              <a:t>13</a:t>
            </a:r>
          </a:p>
        </p:txBody>
      </p:sp>
      <p:sp>
        <p:nvSpPr>
          <p:cNvPr id="4" name="TextBox 3"/>
          <p:cNvSpPr txBox="1"/>
          <p:nvPr/>
        </p:nvSpPr>
        <p:spPr>
          <a:xfrm>
            <a:off x="640080" y="594360"/>
            <a:ext cx="10972800" cy="548640"/>
          </a:xfrm>
          <a:prstGeom prst="rect">
            <a:avLst/>
          </a:prstGeom>
          <a:noFill/>
        </p:spPr>
        <p:txBody>
          <a:bodyPr wrap="square" lIns="0" rIns="0">
            <a:spAutoFit/>
          </a:bodyPr>
          <a:lstStyle/>
          <a:p>
            <a:pPr algn="l">
              <a:defRPr sz="2700" b="1">
                <a:solidFill>
                  <a:srgbClr val="152238"/>
                </a:solidFill>
              </a:defRPr>
            </a:pPr>
            <a:r>
              <a:t>Key Findings</a:t>
            </a:r>
          </a:p>
        </p:txBody>
      </p:sp>
      <p:sp>
        <p:nvSpPr>
          <p:cNvPr id="5" name="TextBox 4"/>
          <p:cNvSpPr txBox="1"/>
          <p:nvPr/>
        </p:nvSpPr>
        <p:spPr>
          <a:xfrm>
            <a:off x="777240" y="1417320"/>
            <a:ext cx="10515600" cy="4480560"/>
          </a:xfrm>
          <a:prstGeom prst="rect">
            <a:avLst/>
          </a:prstGeom>
          <a:noFill/>
        </p:spPr>
        <p:txBody>
          <a:bodyPr wrap="square" lIns="27432">
            <a:spAutoFit/>
          </a:bodyPr>
          <a:lstStyle/>
          <a:p>
            <a:pPr>
              <a:spcAft>
                <a:spcPts val="1200"/>
              </a:spcAft>
              <a:defRPr sz="1500">
                <a:solidFill>
                  <a:srgbClr val="232830"/>
                </a:solidFill>
              </a:defRPr>
            </a:pPr>
            <a:r>
              <a:t>• Supply is concentrated in the leading room category: Entire home/apt (53,701 listings).</a:t>
            </a:r>
          </a:p>
          <a:p>
            <a:pPr>
              <a:spcAft>
                <a:spcPts val="1200"/>
              </a:spcAft>
              <a:defRPr sz="1500">
                <a:solidFill>
                  <a:srgbClr val="232830"/>
                </a:solidFill>
              </a:defRPr>
            </a:pPr>
            <a:r>
              <a:t>• The largest neighbourhood category by listing count is Manhattan (43,792 listings).</a:t>
            </a:r>
          </a:p>
          <a:p>
            <a:pPr>
              <a:spcAft>
                <a:spcPts val="1200"/>
              </a:spcAft>
              <a:defRPr sz="1500">
                <a:solidFill>
                  <a:srgbClr val="232830"/>
                </a:solidFill>
              </a:defRPr>
            </a:pPr>
            <a:r>
              <a:t>• Typical positive listing price is 624, while the mean is 625.29, indicating that central tendency should be interpreted alongside distribution shape.</a:t>
            </a:r>
          </a:p>
          <a:p>
            <a:pPr>
              <a:spcAft>
                <a:spcPts val="1200"/>
              </a:spcAft>
              <a:defRPr sz="1500">
                <a:solidFill>
                  <a:srgbClr val="232830"/>
                </a:solidFill>
              </a:defRPr>
            </a:pPr>
            <a:r>
              <a:t>• Median price differs materially across room categories; the comparison is based on positive-price listings and includes category sample sizes.</a:t>
            </a:r>
          </a:p>
          <a:p>
            <a:pPr>
              <a:spcAft>
                <a:spcPts val="1200"/>
              </a:spcAft>
              <a:defRPr sz="1500">
                <a:solidFill>
                  <a:srgbClr val="232830"/>
                </a:solidFill>
              </a:defRPr>
            </a:pPr>
            <a:r>
              <a:t>• Median price also varies by neighbourhood, indicating meaningful location-level price differences in the observed dataset.</a:t>
            </a:r>
          </a:p>
          <a:p>
            <a:pPr>
              <a:spcAft>
                <a:spcPts val="1200"/>
              </a:spcAft>
              <a:defRPr sz="1500">
                <a:solidFill>
                  <a:srgbClr val="232830"/>
                </a:solidFill>
              </a:defRPr>
            </a:pPr>
            <a:r>
              <a:t>• Data-quality review found 541 duplicate rows and 193,503 missing cells, so preprocessing is essential before downstream modeling.</a:t>
            </a:r>
          </a:p>
        </p:txBody>
      </p:sp>
      <p:sp>
        <p:nvSpPr>
          <p:cNvPr id="7" name="TextBox 6"/>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14</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0040"/>
            <a:ext cx="4572000" cy="228600"/>
          </a:xfrm>
          <a:prstGeom prst="rect">
            <a:avLst/>
          </a:prstGeom>
          <a:noFill/>
        </p:spPr>
        <p:txBody>
          <a:bodyPr wrap="square" lIns="0" rIns="0">
            <a:spAutoFit/>
          </a:bodyPr>
          <a:lstStyle/>
          <a:p>
            <a:pPr algn="l">
              <a:defRPr sz="1000" b="1">
                <a:solidFill>
                  <a:srgbClr val="2B5EA6"/>
                </a:solidFill>
              </a:defRPr>
            </a:pPr>
            <a:r>
              <a:t>16</a:t>
            </a:r>
          </a:p>
        </p:txBody>
      </p:sp>
      <p:sp>
        <p:nvSpPr>
          <p:cNvPr id="4" name="TextBox 3"/>
          <p:cNvSpPr txBox="1"/>
          <p:nvPr/>
        </p:nvSpPr>
        <p:spPr>
          <a:xfrm>
            <a:off x="640080" y="594360"/>
            <a:ext cx="10972800" cy="548640"/>
          </a:xfrm>
          <a:prstGeom prst="rect">
            <a:avLst/>
          </a:prstGeom>
          <a:noFill/>
        </p:spPr>
        <p:txBody>
          <a:bodyPr wrap="square" lIns="0" rIns="0">
            <a:spAutoFit/>
          </a:bodyPr>
          <a:lstStyle/>
          <a:p>
            <a:pPr algn="l">
              <a:defRPr sz="2700" b="1">
                <a:solidFill>
                  <a:srgbClr val="152238"/>
                </a:solidFill>
              </a:defRPr>
            </a:pPr>
            <a:r>
              <a:t>Limitations &amp; Interpretation Notes</a:t>
            </a:r>
          </a:p>
        </p:txBody>
      </p:sp>
      <p:sp>
        <p:nvSpPr>
          <p:cNvPr id="5" name="TextBox 4"/>
          <p:cNvSpPr txBox="1"/>
          <p:nvPr/>
        </p:nvSpPr>
        <p:spPr>
          <a:xfrm>
            <a:off x="777240" y="1417320"/>
            <a:ext cx="10515600" cy="4480560"/>
          </a:xfrm>
          <a:prstGeom prst="rect">
            <a:avLst/>
          </a:prstGeom>
          <a:noFill/>
        </p:spPr>
        <p:txBody>
          <a:bodyPr wrap="square" lIns="27432">
            <a:spAutoFit/>
          </a:bodyPr>
          <a:lstStyle/>
          <a:p>
            <a:pPr>
              <a:spcAft>
                <a:spcPts val="1200"/>
              </a:spcAft>
              <a:defRPr sz="1600">
                <a:solidFill>
                  <a:srgbClr val="232830"/>
                </a:solidFill>
              </a:defRPr>
            </a:pPr>
            <a:r>
              <a:t>• The analysis is observational and descriptive; it does not establish causal relationships.</a:t>
            </a:r>
          </a:p>
          <a:p>
            <a:pPr>
              <a:spcAft>
                <a:spcPts val="1200"/>
              </a:spcAft>
              <a:defRPr sz="1600">
                <a:solidFill>
                  <a:srgbClr val="232830"/>
                </a:solidFill>
              </a:defRPr>
            </a:pPr>
            <a:r>
              <a:t>• Missing values and duplicate records require attention before using the dataset for predictive modeling.</a:t>
            </a:r>
          </a:p>
          <a:p>
            <a:pPr>
              <a:spcAft>
                <a:spcPts val="1200"/>
              </a:spcAft>
              <a:defRPr sz="1600">
                <a:solidFill>
                  <a:srgbClr val="232830"/>
                </a:solidFill>
              </a:defRPr>
            </a:pPr>
            <a:r>
              <a:t>• Price comparisons can be sensitive to outliers and unequal category sample sizes; medians are emphasized.</a:t>
            </a:r>
          </a:p>
          <a:p>
            <a:pPr>
              <a:spcAft>
                <a:spcPts val="1200"/>
              </a:spcAft>
              <a:defRPr sz="1600">
                <a:solidFill>
                  <a:srgbClr val="232830"/>
                </a:solidFill>
              </a:defRPr>
            </a:pPr>
            <a:r>
              <a:t>• Listing-level variables such as reviews and availability are indicators, not direct measures of bookings or revenue.</a:t>
            </a:r>
          </a:p>
          <a:p>
            <a:pPr>
              <a:spcAft>
                <a:spcPts val="1200"/>
              </a:spcAft>
              <a:defRPr sz="1600">
                <a:solidFill>
                  <a:srgbClr val="232830"/>
                </a:solidFill>
              </a:defRPr>
            </a:pPr>
            <a:r>
              <a:t>• The conclusions apply to the supplied dataset and its recorded period/coverage.</a:t>
            </a:r>
          </a:p>
        </p:txBody>
      </p:sp>
      <p:sp>
        <p:nvSpPr>
          <p:cNvPr id="7" name="TextBox 6"/>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17</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0040"/>
            <a:ext cx="4572000" cy="228600"/>
          </a:xfrm>
          <a:prstGeom prst="rect">
            <a:avLst/>
          </a:prstGeom>
          <a:noFill/>
        </p:spPr>
        <p:txBody>
          <a:bodyPr wrap="square" lIns="0" rIns="0">
            <a:spAutoFit/>
          </a:bodyPr>
          <a:lstStyle/>
          <a:p>
            <a:pPr algn="l">
              <a:defRPr sz="1000" b="1">
                <a:solidFill>
                  <a:srgbClr val="2B5EA6"/>
                </a:solidFill>
              </a:defRPr>
            </a:pPr>
            <a:r>
              <a:t>17</a:t>
            </a:r>
          </a:p>
        </p:txBody>
      </p:sp>
      <p:sp>
        <p:nvSpPr>
          <p:cNvPr id="4" name="TextBox 3"/>
          <p:cNvSpPr txBox="1"/>
          <p:nvPr/>
        </p:nvSpPr>
        <p:spPr>
          <a:xfrm>
            <a:off x="640080" y="594360"/>
            <a:ext cx="10972800" cy="548640"/>
          </a:xfrm>
          <a:prstGeom prst="rect">
            <a:avLst/>
          </a:prstGeom>
          <a:noFill/>
        </p:spPr>
        <p:txBody>
          <a:bodyPr wrap="square" lIns="0" rIns="0">
            <a:spAutoFit/>
          </a:bodyPr>
          <a:lstStyle/>
          <a:p>
            <a:pPr algn="l">
              <a:defRPr sz="2700" b="1">
                <a:solidFill>
                  <a:srgbClr val="152238"/>
                </a:solidFill>
              </a:defRPr>
            </a:pPr>
            <a:r>
              <a:t>Conclusion</a:t>
            </a:r>
          </a:p>
        </p:txBody>
      </p:sp>
      <p:sp>
        <p:nvSpPr>
          <p:cNvPr id="5" name="TextBox 4"/>
          <p:cNvSpPr txBox="1"/>
          <p:nvPr/>
        </p:nvSpPr>
        <p:spPr>
          <a:xfrm>
            <a:off x="777240" y="1417320"/>
            <a:ext cx="10515600" cy="4480560"/>
          </a:xfrm>
          <a:prstGeom prst="rect">
            <a:avLst/>
          </a:prstGeom>
          <a:noFill/>
        </p:spPr>
        <p:txBody>
          <a:bodyPr wrap="square" lIns="27432">
            <a:spAutoFit/>
          </a:bodyPr>
          <a:lstStyle/>
          <a:p>
            <a:pPr>
              <a:spcAft>
                <a:spcPts val="1200"/>
              </a:spcAft>
              <a:defRPr sz="1700">
                <a:solidFill>
                  <a:srgbClr val="232830"/>
                </a:solidFill>
              </a:defRPr>
            </a:pPr>
            <a:r>
              <a:t>• The Airbnb dataset provides a useful view of listing supply, accommodation type, location, pricing, review activity, and availability.</a:t>
            </a:r>
          </a:p>
          <a:p>
            <a:pPr>
              <a:spcAft>
                <a:spcPts val="1200"/>
              </a:spcAft>
              <a:defRPr sz="1700">
                <a:solidFill>
                  <a:srgbClr val="232830"/>
                </a:solidFill>
              </a:defRPr>
            </a:pPr>
            <a:r>
              <a:t>• EDA reveals concentration in specific room types and neighbourhoods and clear variation in typical listing prices.</a:t>
            </a:r>
          </a:p>
          <a:p>
            <a:pPr>
              <a:spcAft>
                <a:spcPts val="1200"/>
              </a:spcAft>
              <a:defRPr sz="1700">
                <a:solidFill>
                  <a:srgbClr val="232830"/>
                </a:solidFill>
              </a:defRPr>
            </a:pPr>
            <a:r>
              <a:t>• A disciplined cleaning and comparison workflow makes the findings more reliable and presentation-ready.</a:t>
            </a:r>
          </a:p>
          <a:p>
            <a:pPr>
              <a:spcAft>
                <a:spcPts val="1200"/>
              </a:spcAft>
              <a:defRPr sz="1700">
                <a:solidFill>
                  <a:srgbClr val="232830"/>
                </a:solidFill>
              </a:defRPr>
            </a:pPr>
            <a:r>
              <a:t>• The next analytical step would be deeper relationship analysis (for example, price vs. reviews/availability) if the notebook includes the required variables and evidence.</a:t>
            </a:r>
          </a:p>
        </p:txBody>
      </p:sp>
      <p:sp>
        <p:nvSpPr>
          <p:cNvPr id="7" name="TextBox 6"/>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18</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0040"/>
            <a:ext cx="4572000" cy="228600"/>
          </a:xfrm>
          <a:prstGeom prst="rect">
            <a:avLst/>
          </a:prstGeom>
          <a:noFill/>
        </p:spPr>
        <p:txBody>
          <a:bodyPr wrap="square" lIns="0" rIns="0">
            <a:spAutoFit/>
          </a:bodyPr>
          <a:lstStyle/>
          <a:p>
            <a:pPr algn="l">
              <a:defRPr sz="1000" b="1">
                <a:solidFill>
                  <a:srgbClr val="2B5EA6"/>
                </a:solidFill>
              </a:defRPr>
            </a:pPr>
            <a:r>
              <a:t>18</a:t>
            </a:r>
          </a:p>
        </p:txBody>
      </p:sp>
      <p:sp>
        <p:nvSpPr>
          <p:cNvPr id="4" name="TextBox 3"/>
          <p:cNvSpPr txBox="1"/>
          <p:nvPr/>
        </p:nvSpPr>
        <p:spPr>
          <a:xfrm>
            <a:off x="862501" y="704088"/>
            <a:ext cx="10972800" cy="507831"/>
          </a:xfrm>
          <a:prstGeom prst="rect">
            <a:avLst/>
          </a:prstGeom>
          <a:noFill/>
        </p:spPr>
        <p:txBody>
          <a:bodyPr wrap="square" lIns="0" rIns="0">
            <a:spAutoFit/>
          </a:bodyPr>
          <a:lstStyle/>
          <a:p>
            <a:pPr algn="l">
              <a:defRPr sz="2700" b="1">
                <a:solidFill>
                  <a:srgbClr val="152238"/>
                </a:solidFill>
              </a:defRPr>
            </a:pPr>
            <a:r>
              <a:rPr dirty="0">
                <a:hlinkClick r:id="rId2"/>
              </a:rPr>
              <a:t>Demo / Project Files</a:t>
            </a:r>
            <a:endParaRPr dirty="0"/>
          </a:p>
        </p:txBody>
      </p:sp>
      <p:sp>
        <p:nvSpPr>
          <p:cNvPr id="5" name="TextBox 4"/>
          <p:cNvSpPr txBox="1"/>
          <p:nvPr/>
        </p:nvSpPr>
        <p:spPr>
          <a:xfrm>
            <a:off x="777240" y="1417320"/>
            <a:ext cx="10515600" cy="1661993"/>
          </a:xfrm>
          <a:prstGeom prst="rect">
            <a:avLst/>
          </a:prstGeom>
          <a:noFill/>
        </p:spPr>
        <p:txBody>
          <a:bodyPr wrap="square" lIns="27432">
            <a:spAutoFit/>
          </a:bodyPr>
          <a:lstStyle/>
          <a:p>
            <a:pPr>
              <a:spcAft>
                <a:spcPts val="1200"/>
              </a:spcAft>
              <a:defRPr sz="1800">
                <a:solidFill>
                  <a:srgbClr val="232830"/>
                </a:solidFill>
              </a:defRPr>
            </a:pPr>
            <a:r>
              <a:rPr dirty="0"/>
              <a:t>• </a:t>
            </a:r>
            <a:r>
              <a:rPr lang="en-US" dirty="0"/>
              <a:t>Google </a:t>
            </a:r>
            <a:r>
              <a:rPr lang="en-US" dirty="0" err="1"/>
              <a:t>colab</a:t>
            </a:r>
            <a:r>
              <a:rPr dirty="0"/>
              <a:t> Notebook: </a:t>
            </a:r>
            <a:r>
              <a:rPr dirty="0" err="1"/>
              <a:t>Airbnb_data_analysis.ipynb</a:t>
            </a:r>
            <a:endParaRPr dirty="0"/>
          </a:p>
          <a:p>
            <a:pPr>
              <a:spcAft>
                <a:spcPts val="1200"/>
              </a:spcAft>
              <a:defRPr sz="1800">
                <a:solidFill>
                  <a:srgbClr val="232830"/>
                </a:solidFill>
              </a:defRPr>
            </a:pPr>
            <a:r>
              <a:rPr dirty="0"/>
              <a:t>• Dataset workbook: Airbnb Hotel Booking Analysis.xlsx</a:t>
            </a:r>
          </a:p>
          <a:p>
            <a:pPr>
              <a:spcAft>
                <a:spcPts val="1200"/>
              </a:spcAft>
              <a:defRPr sz="1800">
                <a:solidFill>
                  <a:srgbClr val="232830"/>
                </a:solidFill>
              </a:defRPr>
            </a:pPr>
            <a:r>
              <a:rPr dirty="0"/>
              <a:t>• Presentation: Airbnb Hotel Booking Analysis</a:t>
            </a:r>
          </a:p>
          <a:p>
            <a:pPr>
              <a:spcAft>
                <a:spcPts val="1200"/>
              </a:spcAft>
              <a:defRPr sz="1800">
                <a:solidFill>
                  <a:srgbClr val="232830"/>
                </a:solidFill>
              </a:defRPr>
            </a:pPr>
            <a:r>
              <a:rPr dirty="0"/>
              <a:t>• During the demo, show the notebook cells for cleaning, EDA, visualizations, and final findings.</a:t>
            </a:r>
          </a:p>
        </p:txBody>
      </p:sp>
      <p:sp>
        <p:nvSpPr>
          <p:cNvPr id="7" name="TextBox 6"/>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19</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164592"/>
          </a:xfrm>
          <a:prstGeom prst="rect">
            <a:avLst/>
          </a:prstGeom>
          <a:solidFill>
            <a:srgbClr val="2B5E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640080" y="320040"/>
            <a:ext cx="4572000" cy="228600"/>
          </a:xfrm>
          <a:prstGeom prst="rect">
            <a:avLst/>
          </a:prstGeom>
          <a:noFill/>
        </p:spPr>
        <p:txBody>
          <a:bodyPr wrap="square" lIns="0" rIns="0">
            <a:spAutoFit/>
          </a:bodyPr>
          <a:lstStyle/>
          <a:p>
            <a:pPr algn="l">
              <a:defRPr sz="1000" b="1">
                <a:solidFill>
                  <a:srgbClr val="2B5EA6"/>
                </a:solidFill>
              </a:defRPr>
            </a:pPr>
            <a:r>
              <a:t>19</a:t>
            </a:r>
          </a:p>
        </p:txBody>
      </p:sp>
      <p:sp>
        <p:nvSpPr>
          <p:cNvPr id="4" name="TextBox 3"/>
          <p:cNvSpPr txBox="1"/>
          <p:nvPr/>
        </p:nvSpPr>
        <p:spPr>
          <a:xfrm>
            <a:off x="640080" y="594360"/>
            <a:ext cx="10972800" cy="548640"/>
          </a:xfrm>
          <a:prstGeom prst="rect">
            <a:avLst/>
          </a:prstGeom>
          <a:noFill/>
        </p:spPr>
        <p:txBody>
          <a:bodyPr wrap="square" lIns="0" rIns="0">
            <a:spAutoFit/>
          </a:bodyPr>
          <a:lstStyle/>
          <a:p>
            <a:pPr algn="l">
              <a:defRPr sz="2700" b="1">
                <a:solidFill>
                  <a:srgbClr val="152238"/>
                </a:solidFill>
              </a:defRPr>
            </a:pPr>
            <a:r>
              <a:t>Thank You</a:t>
            </a:r>
          </a:p>
        </p:txBody>
      </p:sp>
      <p:sp>
        <p:nvSpPr>
          <p:cNvPr id="5" name="TextBox 4"/>
          <p:cNvSpPr txBox="1"/>
          <p:nvPr/>
        </p:nvSpPr>
        <p:spPr>
          <a:xfrm>
            <a:off x="731520" y="2011680"/>
            <a:ext cx="10515600" cy="548640"/>
          </a:xfrm>
          <a:prstGeom prst="rect">
            <a:avLst/>
          </a:prstGeom>
          <a:noFill/>
        </p:spPr>
        <p:txBody>
          <a:bodyPr wrap="square" lIns="0" rIns="0">
            <a:spAutoFit/>
          </a:bodyPr>
          <a:lstStyle/>
          <a:p>
            <a:pPr algn="ctr">
              <a:defRPr sz="2800" b="1">
                <a:solidFill>
                  <a:srgbClr val="152238"/>
                </a:solidFill>
              </a:defRPr>
            </a:pPr>
            <a:r>
              <a:rPr dirty="0"/>
              <a:t>Airbnb Hotel Booking Analysis</a:t>
            </a:r>
          </a:p>
        </p:txBody>
      </p:sp>
      <p:sp>
        <p:nvSpPr>
          <p:cNvPr id="6" name="TextBox 5"/>
          <p:cNvSpPr txBox="1"/>
          <p:nvPr/>
        </p:nvSpPr>
        <p:spPr>
          <a:xfrm>
            <a:off x="731520" y="2743200"/>
            <a:ext cx="10515600" cy="411480"/>
          </a:xfrm>
          <a:prstGeom prst="rect">
            <a:avLst/>
          </a:prstGeom>
          <a:noFill/>
        </p:spPr>
        <p:txBody>
          <a:bodyPr wrap="square" lIns="0" rIns="0">
            <a:spAutoFit/>
          </a:bodyPr>
          <a:lstStyle/>
          <a:p>
            <a:pPr algn="ctr">
              <a:defRPr sz="2000" b="0">
                <a:solidFill>
                  <a:srgbClr val="5C6878"/>
                </a:solidFill>
              </a:defRPr>
            </a:pPr>
            <a:r>
              <a:t>Questions &amp; Discussion</a:t>
            </a:r>
          </a:p>
        </p:txBody>
      </p:sp>
      <p:sp>
        <p:nvSpPr>
          <p:cNvPr id="8" name="TextBox 7"/>
          <p:cNvSpPr txBox="1"/>
          <p:nvPr/>
        </p:nvSpPr>
        <p:spPr>
          <a:xfrm>
            <a:off x="11064240" y="6446520"/>
            <a:ext cx="365760" cy="182880"/>
          </a:xfrm>
          <a:prstGeom prst="rect">
            <a:avLst/>
          </a:prstGeom>
          <a:noFill/>
        </p:spPr>
        <p:txBody>
          <a:bodyPr wrap="square" lIns="0" rIns="0">
            <a:spAutoFit/>
          </a:bodyPr>
          <a:lstStyle/>
          <a:p>
            <a:pPr algn="r">
              <a:defRPr sz="800" b="0">
                <a:solidFill>
                  <a:srgbClr val="5C6878"/>
                </a:solidFill>
              </a:defRPr>
            </a:pPr>
            <a:r>
              <a:t>20</a:t>
            </a:r>
          </a:p>
        </p:txBody>
      </p:sp>
    </p:spTree>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Facet</Template>
  <TotalTime>563</TotalTime>
  <Words>983</Words>
  <Application>Microsoft Office PowerPoint</Application>
  <PresentationFormat>Widescreen</PresentationFormat>
  <Paragraphs>164</Paragraphs>
  <Slides>16</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Arial</vt:lpstr>
      <vt:lpstr>Calibri</vt:lpstr>
      <vt:lpstr>Trebuchet MS</vt:lpstr>
      <vt:lpstr>Wingdings</vt:lpstr>
      <vt:lpstr>Wingdings 3</vt:lpstr>
      <vt:lpstr>Facet</vt:lpstr>
      <vt:lpstr>Project Title -Airbnb Hotel Booking Analysis</vt:lpstr>
      <vt:lpstr>PROBLEM  STATEMENT</vt:lpstr>
      <vt:lpstr>Project Description     The Airbnb Hotel Booking Analysis project focuses on analyzing Airbnb listing data to understand different patterns related to room types, neighbourhoods, pricing, reviews, and availability. The project involves collecting and examining the dataset, performing data cleaning and preprocessing, handling missing and duplicate records, and conducting Exploratory Data Analysis (EDA). Various statistical analyses and visualizations are used to compare listings and identify meaningful patterns in the data. The final results provide useful insights into the Airbnb marketplace and can help hosts, property managers, travelers, and analysts better understand listing and pricing patterns. </vt:lpstr>
      <vt:lpstr>WHO ARE THE END USERS?</vt:lpstr>
      <vt:lpstr>Technology Used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ROSHAN KUMAR</cp:lastModifiedBy>
  <cp:revision>74</cp:revision>
  <dcterms:created xsi:type="dcterms:W3CDTF">2021-07-11T13:13:15Z</dcterms:created>
  <dcterms:modified xsi:type="dcterms:W3CDTF">2026-09-20T06:22:17Z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